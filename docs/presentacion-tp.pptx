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86e4289-a590-1a03-14f0-58b980e8dec4}">
          <p14:sldIdLst>
            <p14:sldId id="256"/>
          </p14:sldIdLst>
        </p14:section>
        <p14:section name="Problema" id="{94062e0d-5809-ccfd-df4e-0fb88bb95b34}">
          <p14:sldIdLst>
            <p14:sldId id="257"/>
            <p14:sldId id="258"/>
          </p14:sldIdLst>
        </p14:section>
        <p14:section name="Cómo funciona" id="{3c75d1b5-bc39-1f71-8f4d-bbcc376c052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Qué encontramos" id="{cb945d4d-aabb-fd22-1340-9a83886991e7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ierre" id="{f179b449-c666-7ace-ccdd-480431db7851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64.4</c:v>
                </c:pt>
                <c:pt idx="1">
                  <c:v>70.3</c:v>
                </c:pt>
                <c:pt idx="2">
                  <c:v>72.4</c:v>
                </c:pt>
                <c:pt idx="3">
                  <c:v>72.4</c:v>
                </c:pt>
                <c:pt idx="4">
                  <c:v>74.1</c:v>
                </c:pt>
                <c:pt idx="5">
                  <c:v>75</c:v>
                </c:pt>
                <c:pt idx="6">
                  <c:v>75.3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76.8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.6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13.6</c:v>
                </c:pt>
                <c:pt idx="1">
                  <c:v>14.6</c:v>
                </c:pt>
                <c:pt idx="2">
                  <c:v>14.8</c:v>
                </c:pt>
                <c:pt idx="3">
                  <c:v>15.8</c:v>
                </c:pt>
                <c:pt idx="4">
                  <c:v>16.1</c:v>
                </c:pt>
                <c:pt idx="5">
                  <c:v>16.8</c:v>
                </c:pt>
                <c:pt idx="6">
                  <c:v>17.9</c:v>
                </c:pt>
                <c:pt idx="7">
                  <c:v>18.8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19.3</c:v>
                </c:pt>
                <c:pt idx="9">
                  <c:v>22.2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.3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19.1</c:v>
                </c:pt>
                <c:pt idx="1">
                  <c:v>27</c:v>
                </c:pt>
                <c:pt idx="2">
                  <c:v>27.4</c:v>
                </c:pt>
                <c:pt idx="3">
                  <c:v>27.5</c:v>
                </c:pt>
                <c:pt idx="4">
                  <c:v>29.8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46.9</c:v>
                </c:pt>
                <c:pt idx="6">
                  <c:v>47.6</c:v>
                </c:pt>
                <c:pt idx="7">
                  <c:v>49.6</c:v>
                </c:pt>
                <c:pt idx="8">
                  <c:v>50.3</c:v>
                </c:pt>
                <c:pt idx="9">
                  <c:v>51.2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3.7600000000000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44.4</c:v>
                </c:pt>
                <c:pt idx="1">
                  <c:v>44.8</c:v>
                </c:pt>
                <c:pt idx="2">
                  <c:v>45.5</c:v>
                </c:pt>
                <c:pt idx="3">
                  <c:v>46.4</c:v>
                </c:pt>
                <c:pt idx="4">
                  <c:v>63.9</c:v>
                </c:pt>
                <c:pt idx="5">
                  <c:v>64.9</c:v>
                </c:pt>
                <c:pt idx="6">
                  <c:v>69.5</c:v>
                </c:pt>
                <c:pt idx="7">
                  <c:v>77.6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92.2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.8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Presentación. La pregunta del título es el hilo: cada día los medios cuentan los mismos hechos con énfasis distintos, y queremos medirlo de forma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puede leer 3.000 titulares por hora. Las preguntas interesantes no están en una nota sino en el conjunto. Estas cinco preguntas guían todo 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números para fijar la escala. Todo corre en GitHub Actions sin intervención; el tablero y la base son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de izquierda a derecha. Remarcar que el paso 3, entrar a cada nota, es lo que convierte esto en web mining real y no solo lectura de RSS.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APIs de noticias limitan pedidos y no cubren medios regionales. Un trabajo de 2025 terminó en NewsAPI. Nosotros combinamos RSS propio con Google News por sitio. El problema de Google News: da una URL de redirección y ninguna bajada; lo resolvemos en la etapa de scraping.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Distinción de clase: páginas de listado y de detalle. Los feeds son listados; cada nota es una página de detalle. Decodificamos el enlace de Google News, bajamos el HTML y leemos dos cosas: la meta og:description (la bajada) y el bloque JSON-LD NewsArticle que los diarios incrustan para Google. 41 de 44 medios lo publican.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de los trabajos de 2025 trató este punto. Respetamos robots.txt (0 bloqueos en miles de pedidos), nos identificamos, limitamos la carga y no guardamos el texto completo de las notas: solo título, bajada y metadatos, siempre enlazando al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scrapers es costoso porque la web es dinámica (lo vimos en clase). Registramos salud por fuente, resultado del scraping y notas descartadas, y eso nos permitió detectar estos problemas reales. Cada corrección también limpia lo ya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Bolsa de palabras y modelo vectorial como base. Temas: reglas sobre título y bajada más un Naive Bayes con supervisión débil, que aprende de lo que las reglas clasificaron y solo asigna tema si está seguro. Entidades: diccionario con alias. Tono: lo vemos en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8 enfoques sobre 340 titulares etiquetados a mano, con validación cruzada de 5 pliegues. Un BERT entrenado con tuits (pysentimiento) rinde peor que el modelo simple: mide la emoción de quien escribe, no si el hecho es bueno o malo. La combinación de rasgos propios con XLM-RoBERTa gana, y sobre todo detecta muchas más noticias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técnicas para que el sistema no dependa solo de listas fijas. NER con spaCy descubre figuras nuevas, como Fundación Faro o Gonzalo Belloso. Los embeddings de oraciones encuentran la misma noticia contada con otras palabras y permiten buscar por significado desde el navegador. El aprendizaje activo elige los titulares donde el modelo de tono duda para que los etiquetemos a mano: el modelo pide ayuda donde más la necesita.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termómetro es el porcentaje estimado de notas negativas de las últimas 24 horas, de 0 a 100, con bandas y la comparación contra los días anteriores. El resumen lo arma el tablero con plantillas a partir de los datos: tema más cubierto, noticia más compartida y quién la publicó primero, figura más mencionada, medio más y menos negativo. No usa un modelo de lenguaje: es reproducible y gratis.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Exageración: comparamos el tono del título con el de la bajada, que es el resumen escrito por el propio medio. Cebo: rasgos de clickbait. Transparencia: notas firmadas por una persona según el JSON-LD.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Porcentaje de títulos con al menos un recurso de cebo. En el otro extremo, Rosario Nuestro, El Chubut, Perfil están por debajo del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punto es un medio. Eje horizontal: cebo. Eje vertical: exageración respecto de la propia bajada. Las líneas son las medianas y dividen en cuatro estilos. A24, El Trece, Radio Mitre y TN quedan como sensacionalistas; Elonce y El Chubut como sobrios. Es una medición automática con error conocido: comparar medios, no juzgar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con tono negativo según el modelo combinado, medios con 60 notas o más. Muestra los 5 más negativos y los 5 menos negativos. El tono mide el hecho, no la postura del medio: un medio con más policiales tiene más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firmadas por una persona, según el autor declarado en el JSON-LD de cada nota. Medios con 40 notas o más con datos estructurados.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agrupa las notas que cuentan lo mismo (TF-IDF y similitud coseno) y muestra el título de cada medio en orden de publicación, con su tono y sus recursos de cebo. Ejemplo: el sobreseimiento de Milei en la causa Libra lo cubrieron 12 medios; la publicó primero El Cronista y el último llegó 8 horas después. Con eso también medimos quién llega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medio por figura: porcentaje de notas negativas cuando el medio menciona a esa figura. Rojo: más negativo que el promedio de los medios; verde: menos. Solo celdas con 3 notas o más. Con pocos días de datos los valores son ilustrativos: muestran el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Grafo de medios: una arista une a dos medios que cubren las mismas historias, ponderada por historias compartidas sobre las del medio más chico; cada medio conserva sus 3 vínculos más fuertes. Las comunidades salen de propagación de etiquetas y el dibujo es una disposición por fuerzas. Es la rama de minería de estructura de la teoría, aplicada a la cobertura y no a los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tablero en vivo. Recorrer Resumen, Titulares (con buscador), Monitor (seguir una persona), Cómo titulan y Salud de datos. Es una página estática en GitHub Pages: funciona también en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tablero, tocar Explorar la base (SQL). Datasette Lite corre SQLite en el navegador con WebAssembly: no hay que instalar nada. Correr esta consulta y después una propuesta por la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servidores ni costos: todo corre en GitHub. SQLite simplifica la operación y se puede abrir en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claros con los límites: el tono es del título, 77% de acierto, 340 etiquetas de un criterio. El histórico es corto. Próximos pasos: NER con spaCy, evolución de comunidades, cruce con datos económicos y más etiquetas manuales.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invitación a probarlo en vivo.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Monitor de medios argentinos · Web Mining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WEB MINING · MAESTRÍA EN CIENCIA DE DATOS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nos cuentan las noticias?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 monitor automático de 46 medios argentinos: agenda, tono y estilo de titulación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[completar]   ·  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mismo día, contado de 46 maneras distintas</a:t>
            </a:r>
            <a:endParaRPr lang="en-US" sz="3200" dirty="0"/>
          </a:p>
        </p:txBody>
      </p:sp>
      <p:sp>
        <p:nvSpPr>
          <p:cNvPr id="5" name="pregunta-0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0208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se habla hoy y qué crece respecto de lo habitual?</a:t>
            </a:r>
            <a:endParaRPr lang="en-US" sz="1700" dirty="0"/>
          </a:p>
        </p:txBody>
      </p:sp>
      <p:sp>
        <p:nvSpPr>
          <p:cNvPr id="8" name="pregunta-1"/>
          <p:cNvSpPr/>
          <p:nvPr/>
        </p:nvSpPr>
        <p:spPr>
          <a:xfrm>
            <a:off x="548640" y="2770632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28600" cy="2286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medios cubren un tema o una persona, y con qué tono?</a:t>
            </a:r>
            <a:endParaRPr lang="en-US" sz="1700" dirty="0"/>
          </a:p>
        </p:txBody>
      </p:sp>
      <p:sp>
        <p:nvSpPr>
          <p:cNvPr id="11" name="pregunta-2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12464"/>
            <a:ext cx="228600" cy="228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80160" y="3630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noticias cubre todo el ecosistema y cuáles son exclusivas?</a:t>
            </a:r>
            <a:endParaRPr lang="en-US" sz="1700" dirty="0"/>
          </a:p>
        </p:txBody>
      </p:sp>
      <p:sp>
        <p:nvSpPr>
          <p:cNvPr id="14" name="pregunta-3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17136"/>
            <a:ext cx="228600" cy="228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4434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titula de forma más alarmista o con más clickbait?</a:t>
            </a:r>
            <a:endParaRPr lang="en-US" sz="1700" dirty="0"/>
          </a:p>
        </p:txBody>
      </p:sp>
      <p:sp>
        <p:nvSpPr>
          <p:cNvPr id="17" name="pregunta-4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21808"/>
            <a:ext cx="228600" cy="228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" y="52395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contenido está firmado y cuánto sale como "Redacción"?</a:t>
            </a:r>
            <a:endParaRPr lang="en-US" sz="1700" dirty="0"/>
          </a:p>
        </p:txBody>
      </p:sp>
      <p:sp>
        <p:nvSpPr>
          <p:cNvPr id="20" name="dato"/>
          <p:cNvSpPr/>
          <p:nvPr/>
        </p:nvSpPr>
        <p:spPr>
          <a:xfrm>
            <a:off x="7680960" y="1965960"/>
            <a:ext cx="3959352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8001000" y="2377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≈3.000</a:t>
            </a:r>
            <a:endParaRPr lang="en-US" sz="6600" dirty="0"/>
          </a:p>
        </p:txBody>
      </p:sp>
      <p:sp>
        <p:nvSpPr>
          <p:cNvPr id="22" name="Text 14"/>
          <p:cNvSpPr txBox="1"/>
          <p:nvPr/>
        </p:nvSpPr>
        <p:spPr>
          <a:xfrm>
            <a:off x="800100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por corrida, de 46 medios, cada hora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800100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Leerlos a mano es inviable: hay que extraerlos, estructurarlos y medirlos de forma automática.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monitor que corre solo, cada hora, y publica todo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medios: diarios, portales, TV, radios y fuentes oficiales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en la base, con tema, tono, entidades y estilo de título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cada hora; tablero y base SQL publicados en GitHub Pages</a:t>
            </a:r>
            <a:endParaRPr lang="en-US" sz="1500" dirty="0"/>
          </a:p>
        </p:txBody>
      </p:sp>
      <p:sp>
        <p:nvSpPr>
          <p:cNvPr id="11" name="frase"/>
          <p:cNvSpPr/>
          <p:nvPr/>
        </p:nvSpPr>
        <p:spPr>
          <a:xfrm>
            <a:off x="548640" y="46634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mining de punta a punta: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crawling de feeds, scraping de cada nota, procesamiento de lenguaje con BERT, base de datos histórica e indicadores comparables entre medios.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etapas, de los feeds al tablero</a:t>
            </a:r>
            <a:endParaRPr lang="en-US" sz="3200" dirty="0"/>
          </a:p>
        </p:txBody>
      </p:sp>
      <p:sp>
        <p:nvSpPr>
          <p:cNvPr id="5" name="etapa-0"/>
          <p:cNvSpPr/>
          <p:nvPr/>
        </p:nvSpPr>
        <p:spPr>
          <a:xfrm>
            <a:off x="548640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y Google News de 46 medios, en paralelo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8434" y="3364992"/>
            <a:ext cx="219456" cy="219456"/>
          </a:xfrm>
          <a:prstGeom prst="rect">
            <a:avLst/>
          </a:prstGeom>
        </p:spPr>
      </p:pic>
      <p:sp>
        <p:nvSpPr>
          <p:cNvPr id="10" name="etapa-1"/>
          <p:cNvSpPr/>
          <p:nvPr/>
        </p:nvSpPr>
        <p:spPr>
          <a:xfrm>
            <a:off x="2447483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30363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30363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630363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no-notas, fechas imposibles y duplicados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277" y="3364992"/>
            <a:ext cx="219456" cy="219456"/>
          </a:xfrm>
          <a:prstGeom prst="rect">
            <a:avLst/>
          </a:prstGeom>
        </p:spPr>
      </p:pic>
      <p:sp>
        <p:nvSpPr>
          <p:cNvPr id="15" name="etapa-2"/>
          <p:cNvSpPr/>
          <p:nvPr/>
        </p:nvSpPr>
        <p:spPr>
          <a:xfrm>
            <a:off x="4346326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9206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529206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529206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 cada nota: bajada y JSON-LD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20" y="3364992"/>
            <a:ext cx="219456" cy="219456"/>
          </a:xfrm>
          <a:prstGeom prst="rect">
            <a:avLst/>
          </a:prstGeom>
        </p:spPr>
      </p:pic>
      <p:sp>
        <p:nvSpPr>
          <p:cNvPr id="20" name="etapa-3"/>
          <p:cNvSpPr/>
          <p:nvPr/>
        </p:nvSpPr>
        <p:spPr>
          <a:xfrm>
            <a:off x="6245169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28049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428049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428049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entidades, tono con BERT, cebo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963" y="3364992"/>
            <a:ext cx="219456" cy="219456"/>
          </a:xfrm>
          <a:prstGeom prst="rect">
            <a:avLst/>
          </a:prstGeom>
        </p:spPr>
      </p:pic>
      <p:sp>
        <p:nvSpPr>
          <p:cNvPr id="25" name="etapa-4"/>
          <p:cNvSpPr/>
          <p:nvPr/>
        </p:nvSpPr>
        <p:spPr>
          <a:xfrm>
            <a:off x="8144012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326892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8326892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326892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90 días, CSV exportable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806" y="3364992"/>
            <a:ext cx="219456" cy="219456"/>
          </a:xfrm>
          <a:prstGeom prst="rect">
            <a:avLst/>
          </a:prstGeom>
        </p:spPr>
      </p:pic>
      <p:sp>
        <p:nvSpPr>
          <p:cNvPr id="30" name="etapa-5"/>
          <p:cNvSpPr/>
          <p:nvPr/>
        </p:nvSpPr>
        <p:spPr>
          <a:xfrm>
            <a:off x="10042855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10225735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24"/>
          <p:cNvSpPr txBox="1"/>
          <p:nvPr/>
        </p:nvSpPr>
        <p:spPr>
          <a:xfrm>
            <a:off x="10225735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10225735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pestañas + SQL en el navegador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corre el pipeline cada hora, guarda la base en una rama de datos y publica el tablero en GitHub Pages. La primera corrida con BERT tarda 10 minutos; las siguientes, 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vías para llegar a 46 medios sin claves ni costo</a:t>
            </a:r>
            <a:endParaRPr lang="en-US" sz="3200" dirty="0"/>
          </a:p>
        </p:txBody>
      </p:sp>
      <p:sp>
        <p:nvSpPr>
          <p:cNvPr id="5" name="fuente-0"/>
          <p:cNvSpPr/>
          <p:nvPr/>
        </p:nvSpPr>
        <p:spPr>
          <a:xfrm>
            <a:off x="54864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propio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41148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medios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XML del medio: título, enlace, fecha y bajada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vía más limpia y estable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Clarín, Infobae, La Nación, La Capital, TN…</a:t>
            </a:r>
            <a:endParaRPr lang="en-US" sz="1600" dirty="0"/>
          </a:p>
        </p:txBody>
      </p:sp>
      <p:sp>
        <p:nvSpPr>
          <p:cNvPr id="10" name="fuente-1"/>
          <p:cNvSpPr/>
          <p:nvPr/>
        </p:nvSpPr>
        <p:spPr>
          <a:xfrm>
            <a:off x="621792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780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 por sitio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978408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medios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3796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site:dominio de las últimas 48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los medios sin RSS útil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devuelve una URL de Google y sin bajada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846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3.724 de 5.302 notas </a:t>
            </a:r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llegaron por Google News: sin el paso siguiente, solo tendríamos su título.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SCRAPING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Entramos a cada nota para leer lo que el RSS no trae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analizadas entrando a su página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bajada (el resumen del propio medio)</a:t>
            </a:r>
            <a:endParaRPr lang="en-US" sz="1500" dirty="0"/>
          </a:p>
        </p:txBody>
      </p:sp>
      <p:sp>
        <p:nvSpPr>
          <p:cNvPr id="9" name="jsonld"/>
          <p:cNvSpPr/>
          <p:nvPr/>
        </p:nvSpPr>
        <p:spPr>
          <a:xfrm>
            <a:off x="4206240" y="2103120"/>
            <a:ext cx="7434072" cy="3840480"/>
          </a:xfrm>
          <a:prstGeom prst="roundRect">
            <a:avLst>
              <a:gd name="adj" fmla="val 190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3317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HTML de cada nota extraemos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2926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real: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decodificando el enlace de Google News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34930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37760" y="3447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Bajada: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og:description o primer párrafo real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0599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37760" y="40142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 y firma: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o "Redacción", desde el JSON-LD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6268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937760" y="45811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y palabras clave: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clasifica el propio medio</a:t>
            </a:r>
            <a:endParaRPr lang="en-US" sz="16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519379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937760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del cuerpo: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palabras de la nota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ÉTICA DESDE EL DISEÑO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crawler "bien educado", como pide la teoría</a:t>
            </a:r>
            <a:endParaRPr lang="en-US" sz="3200" dirty="0"/>
          </a:p>
        </p:txBody>
      </p:sp>
      <p:sp>
        <p:nvSpPr>
          <p:cNvPr id="5" name="regla-0"/>
          <p:cNvSpPr/>
          <p:nvPr/>
        </p:nvSpPr>
        <p:spPr>
          <a:xfrm>
            <a:off x="54864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icono-0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146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por dominio antes de pedir una nota. 0 bloqueos en 5.548 pedidos.</a:t>
            </a:r>
            <a:endParaRPr lang="en-US" sz="1500" dirty="0"/>
          </a:p>
        </p:txBody>
      </p:sp>
      <p:sp>
        <p:nvSpPr>
          <p:cNvPr id="10" name="regla-1"/>
          <p:cNvSpPr/>
          <p:nvPr/>
        </p:nvSpPr>
        <p:spPr>
          <a:xfrm>
            <a:off x="621792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icono-1"/>
          <p:cNvSpPr/>
          <p:nvPr/>
        </p:nvSpPr>
        <p:spPr>
          <a:xfrm>
            <a:off x="649224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5146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identificamos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User-Agent propio que enlaza al proyecto: monitor-de-medios/1.0</a:t>
            </a:r>
            <a:endParaRPr lang="en-US" sz="1500" dirty="0"/>
          </a:p>
        </p:txBody>
      </p:sp>
      <p:sp>
        <p:nvSpPr>
          <p:cNvPr id="15" name="regla-2"/>
          <p:cNvSpPr/>
          <p:nvPr/>
        </p:nvSpPr>
        <p:spPr>
          <a:xfrm>
            <a:off x="54864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6" name="icono-2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43484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830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acotada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2 pedidos a la vez por sitio y topes de notas y tiempo por corrida.</a:t>
            </a:r>
            <a:endParaRPr lang="en-US" sz="1500" dirty="0"/>
          </a:p>
        </p:txBody>
      </p:sp>
      <p:sp>
        <p:nvSpPr>
          <p:cNvPr id="20" name="regla-3"/>
          <p:cNvSpPr/>
          <p:nvPr/>
        </p:nvSpPr>
        <p:spPr>
          <a:xfrm>
            <a:off x="621792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icono-3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5236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insistir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45236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con espera creciente; una nota que falla dos veces no se vuelve a pedir.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guardamos el texto completo de las notas: solo título, bajada y metadatos, siempre con enlace al original.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MANTENER UN SCRAPER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web cambia: el scraper se vigila a sí mismo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Síntoma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Bajadas con código JavaScript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respaldo de "primer párrafo" tomaba &lt;path o código de un carrusel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&lt;p&gt; reales, sin scripts; se descarta texto con forma de código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"&amp;amp;quot;" en el texto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Sitios que escapan las entidades dos veces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Doble decodificación de entidades HTML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"podrÃ¡" en vez de "podrá"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UTF-8 sin charset leídas como Latin-1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Forzar UTF-8 y reparar los tramos rotos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caído o degradado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 vacío o con menos de la mitad de lo habitual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salud y alerta en el tablero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PROCESAMIENTO DE 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nota recibe tema, entidades, tono y cebo</a:t>
            </a:r>
            <a:endParaRPr lang="en-US" sz="3200" dirty="0"/>
          </a:p>
        </p:txBody>
      </p:sp>
      <p:sp>
        <p:nvSpPr>
          <p:cNvPr id="5" name="nlp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temas. Reglas sobre título + bajada, y un Naive Bayes que aprende de lo que las reglas ya clasificaron (supervisión débil).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"Otros": 24% → menos del 5%</a:t>
            </a:r>
            <a:endParaRPr lang="en-US" sz="1500" dirty="0"/>
          </a:p>
        </p:txBody>
      </p:sp>
      <p:sp>
        <p:nvSpPr>
          <p:cNvPr id="10" name="nlp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personas, instituciones y clubes con sus alias y reglas de desambiguación ("Banco Central" no es Rosario Central).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mencionados: Milei, Messi, el papa</a:t>
            </a:r>
            <a:endParaRPr lang="en-US" sz="1500" dirty="0"/>
          </a:p>
        </p:txBody>
      </p:sp>
      <p:sp>
        <p:nvSpPr>
          <p:cNvPr id="15" name="nlp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hecho es bueno o malo para los involucrados. Palabras + probabilidades de BERT, sobre el título y sobre la bajada.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validación cruzada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CON BERT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palabras con BERT sube el acierto de 70% a 77%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63840" y="21031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0632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acierto (antes 70%), medido con notas que el modelo no vio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023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786384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negativas detectadas (antes 65%)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MÁS ALLÁ DEL DICCIONARIO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aprende lo que no le enseñamos</a:t>
            </a:r>
            <a:endParaRPr lang="en-US" sz="3200" dirty="0"/>
          </a:p>
        </p:txBody>
      </p:sp>
      <p:sp>
        <p:nvSpPr>
          <p:cNvPr id="5" name="mas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detecta personas e instituciones que no están en el diccionario y marca las que irrumpen hoy en la agenda.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Fundación Faro, Gonzalo Belloso</a:t>
            </a:r>
            <a:endParaRPr lang="en-US" sz="1400" dirty="0"/>
          </a:p>
        </p:txBody>
      </p:sp>
      <p:sp>
        <p:nvSpPr>
          <p:cNvPr id="10" name="mas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significado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MiniLM: notas parecidas de otros medios aunque no compartan palabras, y búsqueda semántica en el navegador.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"Murió una joven embarazada…" ↔ La Voz: 0,85</a:t>
            </a:r>
            <a:endParaRPr lang="en-US" sz="1400" dirty="0"/>
          </a:p>
        </p:txBody>
      </p:sp>
      <p:sp>
        <p:nvSpPr>
          <p:cNvPr id="15" name="mas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activo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tono elige los 60 titulares donde más duda para etiquetarlos a mano y reentrenar.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de la clase 3, aplicado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DÍA EN UN NÚMERO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termómetro y un resumen que se escriben solos</a:t>
            </a:r>
            <a:endParaRPr lang="en-US" sz="3200" dirty="0"/>
          </a:p>
        </p:txBody>
      </p:sp>
      <p:pic>
        <p:nvPicPr>
          <p:cNvPr id="5" name="termometro" descr="C:\Users\SBI\Documents\Martin Ceriotti Personales\Master Data Science\webmining\Web-Mining\docs\_fuentes\img\ter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1094415" cy="28047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notas negativas de las últimas 24 h (calmo, moderado, tenso, muy tenso).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redactado con plantillas a partir de los datos del día; sin modelo de lenguaje, reproducible.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TITULA CADA MEDIO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indicadores para medir el estilo, no solo el contenido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Exageración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título es negativo y la bajada del propio medio no lo es.</a:t>
            </a:r>
            <a:endParaRPr lang="en-US" sz="1400" dirty="0"/>
          </a:p>
        </p:txBody>
      </p:sp>
      <p:sp>
        <p:nvSpPr>
          <p:cNvPr id="8" name="ejemplo-0"/>
          <p:cNvSpPr/>
          <p:nvPr/>
        </p:nvSpPr>
        <p:spPr>
          <a:xfrm>
            <a:off x="4937760" y="20116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dramático relato…" → bajada: datos del vuelo y los pasajeros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832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Cebo (clickbait)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931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Preguntas, exclamaciones, adjetivos exagerados, intriga, segunda persona, listas.</a:t>
            </a:r>
            <a:endParaRPr lang="en-US" sz="1400" dirty="0"/>
          </a:p>
        </p:txBody>
      </p:sp>
      <p:sp>
        <p:nvSpPr>
          <p:cNvPr id="13" name="ejemplo-1"/>
          <p:cNvSpPr/>
          <p:nvPr/>
        </p:nvSpPr>
        <p:spPr>
          <a:xfrm>
            <a:off x="4937760" y="33832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12080" y="35204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"¡Escándalo! Aseguran que…" · "El truco viral para…"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firmadas por un periodista, según los datos estructurados de la nota.</a:t>
            </a:r>
            <a:endParaRPr lang="en-US" sz="1400" dirty="0"/>
          </a:p>
        </p:txBody>
      </p:sp>
      <p:sp>
        <p:nvSpPr>
          <p:cNvPr id="18" name="ejemplo-2"/>
          <p:cNvSpPr/>
          <p:nvPr/>
        </p:nvSpPr>
        <p:spPr>
          <a:xfrm>
            <a:off x="4937760" y="47548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0" y="48920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"Redacción" o el nombre del medio no cuentan como firma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CEBO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A24 y El Destape usan recursos de cebo en casi 1 de cada 5 títulos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xtremo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otro extremo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1,6%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Chubut: 1,8%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Nuestro: 2,4%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Capital: 2,7%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46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títulos con al menos un recurso de cebo; medios con 40 notas o más.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SENSACIONALISMO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mapa: quién exagera y quién busca el clic</a:t>
            </a:r>
            <a:endParaRPr lang="en-US" sz="3200" dirty="0"/>
          </a:p>
        </p:txBody>
      </p:sp>
      <p:pic>
        <p:nvPicPr>
          <p:cNvPr id="5" name="mapa" descr="C:\Users\SBI\Documents\Martin Ceriotti Personales\Master Data Science\webmining\Web-Mining\docs\_fuentes\img\mapa-sensacionalis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8229600" cy="3684181"/>
          </a:xfrm>
          <a:prstGeom prst="rect">
            <a:avLst/>
          </a:prstGeom>
        </p:spPr>
      </p:pic>
      <p:sp>
        <p:nvSpPr>
          <p:cNvPr id="6" name="lectura"/>
          <p:cNvSpPr/>
          <p:nvPr/>
        </p:nvSpPr>
        <p:spPr>
          <a:xfrm>
            <a:off x="9052560" y="1920240"/>
            <a:ext cx="2587752" cy="3657600"/>
          </a:xfrm>
          <a:prstGeom prst="roundRect">
            <a:avLst>
              <a:gd name="adj" fmla="val 282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28116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9281160" y="26517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 a la derecha: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con cebo que además exageran.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a la izquierda: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sobrios y fieles a su bajada.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Diario Chaco, 1 de cada 2 notas es negativa; en El Chubut, 1 de cada 5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ono-total"/>
          <p:cNvSpPr/>
          <p:nvPr/>
        </p:nvSpPr>
        <p:spPr>
          <a:xfrm>
            <a:off x="8229600" y="2011680"/>
            <a:ext cx="3410712" cy="3931920"/>
          </a:xfrm>
          <a:prstGeom prst="roundRect">
            <a:avLst>
              <a:gd name="adj" fmla="val 214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toda la base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7889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1001268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490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1001268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D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10012680" y="4892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TRANSPARENCIA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firma el 92% de sus notas; Radio Mitre y Rosario3, ninguna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in-firma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ninguna nota firmada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 (Mar del Plata)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Continental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Mitre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ENCUADRE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noticia, muchos encuadres</a:t>
            </a:r>
            <a:endParaRPr lang="en-US" sz="3200" dirty="0"/>
          </a:p>
        </p:txBody>
      </p:sp>
      <p:pic>
        <p:nvPicPr>
          <p:cNvPr id="5" name="encuadre" descr="C:\Users\SBI\Documents\Martin Ceriotti Personales\Master Data Science\webmining\Web-Mining\docs\_fuentes\img\encuad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528849"/>
          </a:xfrm>
          <a:prstGeom prst="rect">
            <a:avLst/>
          </a:prstGeom>
        </p:spPr>
      </p:pic>
      <p:sp>
        <p:nvSpPr>
          <p:cNvPr id="6" name="primicia"/>
          <p:cNvSpPr/>
          <p:nvPr/>
        </p:nvSpPr>
        <p:spPr>
          <a:xfrm>
            <a:off x="7863840" y="187452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103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llega primero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606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que más veces publicó primero una historia que después cubrieron otros: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Eldoce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3434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muestra el tono del título, sus recursos de cebo y los minutos de demora respecto del primero.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POR FIGURA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trata cada medio a cada figura</a:t>
            </a:r>
            <a:endParaRPr lang="en-US" sz="3200" dirty="0"/>
          </a:p>
        </p:txBody>
      </p:sp>
      <p:pic>
        <p:nvPicPr>
          <p:cNvPr id="5" name="figuras" descr="C:\Users\SBI\Documents\Martin Ceriotti Personales\Master Data Science\webmining\Web-Mining\docs\_fuentes\img\figu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8412480" cy="2315795"/>
          </a:xfrm>
          <a:prstGeom prst="rect">
            <a:avLst/>
          </a:prstGeom>
        </p:spPr>
      </p:pic>
      <p:sp>
        <p:nvSpPr>
          <p:cNvPr id="6" name="figuras-lectura"/>
          <p:cNvSpPr/>
          <p:nvPr/>
        </p:nvSpPr>
        <p:spPr>
          <a:xfrm>
            <a:off x="9235440" y="1874520"/>
            <a:ext cx="2404872" cy="3566160"/>
          </a:xfrm>
          <a:prstGeom prst="roundRect">
            <a:avLst>
              <a:gd name="adj" fmla="val 3042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464040" y="21031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negativo que el promedio de los medios con esa figura.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D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negativo.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paréntesis, la cantidad de notas.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MINERÍA DE ESTRUCTURA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 de medios: quién comparte agenda con quién</a:t>
            </a:r>
            <a:endParaRPr lang="en-US" sz="3200" dirty="0"/>
          </a:p>
        </p:txBody>
      </p:sp>
      <p:pic>
        <p:nvPicPr>
          <p:cNvPr id="5" name="grafo" descr="C:\Users\SBI\Documents\Martin Ceriotti Personales\Master Data Science\webmining\Web-Mining\docs\_fuentes\img\gra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675120" cy="4087573"/>
          </a:xfrm>
          <a:prstGeom prst="rect">
            <a:avLst/>
          </a:prstGeom>
        </p:spPr>
      </p:pic>
      <p:sp>
        <p:nvSpPr>
          <p:cNvPr id="6" name="grafo-lectura"/>
          <p:cNvSpPr/>
          <p:nvPr/>
        </p:nvSpPr>
        <p:spPr>
          <a:xfrm>
            <a:off x="7589520" y="1874520"/>
            <a:ext cx="4050792" cy="4160520"/>
          </a:xfrm>
          <a:prstGeom prst="roundRect">
            <a:avLst>
              <a:gd name="adj" fmla="val 180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2651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Nodos: medios; tamaño según historias compartidas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Aristas: cubren las mismas historias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comunidades detectadas por propagación de etiquetas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por fuerzas, animada en el tablero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TABLERO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esto, en un tablero público que se actualiza solo</a:t>
            </a:r>
            <a:endParaRPr lang="en-US" sz="3200" dirty="0"/>
          </a:p>
        </p:txBody>
      </p:sp>
      <p:pic>
        <p:nvPicPr>
          <p:cNvPr id="5" name="captura" descr="C:\Users\SBI\Documents\Martin Ceriotti Personales\Master Data Science\webmining\Web-Mining\docs\_fuentes\img\tablero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583680" cy="4114800"/>
          </a:xfrm>
          <a:prstGeom prst="rect">
            <a:avLst/>
          </a:prstGeom>
        </p:spPr>
      </p:pic>
      <p:sp>
        <p:nvSpPr>
          <p:cNvPr id="6" name="marco"/>
          <p:cNvSpPr/>
          <p:nvPr/>
        </p:nvSpPr>
        <p:spPr>
          <a:xfrm>
            <a:off x="548640" y="1874520"/>
            <a:ext cx="6583680" cy="4114800"/>
          </a:xfrm>
          <a:prstGeom prst="rect">
            <a:avLst/>
          </a:prstGeom>
          <a:ln w="12700">
            <a:solidFill>
              <a:srgbClr val="D9D9D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0" y="19202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termómetro, resumen del día y noticias compartidas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498080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texto o por significado y notas parecidas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30906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 y seguimiento de una persona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36758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filtros, agenda, encuadre y mapa de medios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98080" y="42611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titulan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mapa, rankings y ejemplos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98080" y="48463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de datos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y scraping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 EN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base se consulta con SQL desde el navegador</a:t>
            </a:r>
            <a:endParaRPr lang="en-US" sz="3200" dirty="0"/>
          </a:p>
        </p:txBody>
      </p:sp>
      <p:sp>
        <p:nvSpPr>
          <p:cNvPr id="5" name="sql"/>
          <p:cNvSpPr/>
          <p:nvPr/>
        </p:nvSpPr>
        <p:spPr>
          <a:xfrm>
            <a:off x="548640" y="201168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3172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medio,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ROUND(100*AVG(cebo&gt;=1), 1) AS cebo,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ROUND(100*AVG(tono_auto='n'), 1) AS neg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items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medio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&gt;= 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cebo DESC;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tablero (QR al final)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Tocar "Explorar la base (SQL)"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la tabla items o escribir una consulta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800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937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la base o el CSV si se quiere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HERRAMIENTAS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stack simple, gratuito y reproducible</a:t>
            </a:r>
            <a:endParaRPr lang="en-US" sz="3200" dirty="0"/>
          </a:p>
        </p:txBody>
      </p:sp>
      <p:sp>
        <p:nvSpPr>
          <p:cNvPr id="5" name="stack-0"/>
          <p:cNvSpPr/>
          <p:nvPr/>
        </p:nvSpPr>
        <p:spPr>
          <a:xfrm>
            <a:off x="54864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· feedparser · googlenewsdecoder · urllib.robotparser</a:t>
            </a:r>
            <a:endParaRPr lang="en-US" sz="1500" dirty="0"/>
          </a:p>
        </p:txBody>
      </p:sp>
      <p:sp>
        <p:nvSpPr>
          <p:cNvPr id="8" name="stack-1"/>
          <p:cNvSpPr/>
          <p:nvPr/>
        </p:nvSpPr>
        <p:spPr>
          <a:xfrm>
            <a:off x="621792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 regulares · JSON-LD (schema.org) · HTML</a:t>
            </a:r>
            <a:endParaRPr lang="en-US" sz="1500" dirty="0"/>
          </a:p>
        </p:txBody>
      </p:sp>
      <p:sp>
        <p:nvSpPr>
          <p:cNvPr id="11" name="stack-2"/>
          <p:cNvSpPr/>
          <p:nvPr/>
        </p:nvSpPr>
        <p:spPr>
          <a:xfrm>
            <a:off x="54864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palabras · Naive Bayes · regresión logística · XLM-RoBERTa · MiniLM · spaCy (NER)</a:t>
            </a:r>
            <a:endParaRPr lang="en-US" sz="1500" dirty="0"/>
          </a:p>
        </p:txBody>
      </p:sp>
      <p:sp>
        <p:nvSpPr>
          <p:cNvPr id="14" name="stack-3"/>
          <p:cNvSpPr/>
          <p:nvPr/>
        </p:nvSpPr>
        <p:spPr>
          <a:xfrm>
            <a:off x="621792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CSV · Datasette Lite · notebook con pandas</a:t>
            </a:r>
            <a:endParaRPr lang="en-US" sz="1500" dirty="0"/>
          </a:p>
        </p:txBody>
      </p:sp>
      <p:sp>
        <p:nvSpPr>
          <p:cNvPr id="17" name="stack-4"/>
          <p:cNvSpPr/>
          <p:nvPr/>
        </p:nvSpPr>
        <p:spPr>
          <a:xfrm>
            <a:off x="54864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(cada hora) · rama de datos</a:t>
            </a:r>
            <a:endParaRPr lang="en-US" sz="1500" dirty="0"/>
          </a:p>
        </p:txBody>
      </p:sp>
      <p:sp>
        <p:nvSpPr>
          <p:cNvPr id="20" name="stack-5"/>
          <p:cNvSpPr/>
          <p:nvPr/>
        </p:nvSpPr>
        <p:spPr>
          <a:xfrm>
            <a:off x="621792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92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sin frameworks · GitHub Pages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LO QUE SIGUE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honestas y próximos pasos</a:t>
            </a:r>
            <a:endParaRPr lang="en-US" sz="3200" dirty="0"/>
          </a:p>
        </p:txBody>
      </p:sp>
      <p:sp>
        <p:nvSpPr>
          <p:cNvPr id="5" name="cierre-0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 del título y la bajada, no de la nota completa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340 etiquetas de un solo criterio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días de histórico: los rankings se estabilizan con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y entidades por diccionario requieren mantenimiento</a:t>
            </a:r>
            <a:endParaRPr lang="en-US" sz="1600" dirty="0"/>
          </a:p>
        </p:txBody>
      </p:sp>
      <p:sp>
        <p:nvSpPr>
          <p:cNvPr id="9" name="cierre-1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13232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653796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rondas de aprendizaje activo y medir la mejora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las comunidades a lo largo de las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el termómetro con el dólar y otros datos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etiquetas manuales, con varios anotadores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PROBALO AHORA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Escaneá el código para abrir el tablero y consultar la base con SQL</a:t>
            </a:r>
            <a:endParaRPr lang="en-US" sz="2000" dirty="0"/>
          </a:p>
        </p:txBody>
      </p:sp>
      <p:pic>
        <p:nvPicPr>
          <p:cNvPr id="5" name="qr" descr="C:\Users\SBI\Documents\Martin Ceriotti Personales\Master Data Science\webmining\Web-Mining\docs\_fuentes\img\qr-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46304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miguegarrone-blip.github.io/Web-Mining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github.com/miguegarrone-blip/Web-Mining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rio">
  <a:themeElements>
    <a:clrScheme name="Diario">
      <a:dk1>
        <a:srgbClr val="1A1A1A"/>
      </a:dk1>
      <a:lt1>
        <a:srgbClr val="FFFFFF"/>
      </a:lt1>
      <a:dk2>
        <a:srgbClr val="2B2B2B"/>
      </a:dk2>
      <a:lt2>
        <a:srgbClr val="F2F2F0"/>
      </a:lt2>
      <a:accent1>
        <a:srgbClr val="C8102E"/>
      </a:accent1>
      <a:accent2>
        <a:srgbClr val="1F5F8B"/>
      </a:accent2>
      <a:accent3>
        <a:srgbClr val="6B6B6B"/>
      </a:accent3>
      <a:accent4>
        <a:srgbClr val="3D8A5A"/>
      </a:accent4>
      <a:accent5>
        <a:srgbClr val="B5483A"/>
      </a:accent5>
      <a:accent6>
        <a:srgbClr val="E0A100"/>
      </a:accent6>
      <a:hlink>
        <a:srgbClr val="1F5F8B"/>
      </a:hlink>
      <a:folHlink>
        <a:srgbClr val="6D2E46"/>
      </a:folHlink>
    </a:clrScheme>
    <a:fontScheme name="Diari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 de medios argentinos</dc:title>
  <dc:subject>PptxGenJS Presentation</dc:subject>
  <dc:creator>PptxGenJS</dc:creator>
  <cp:lastModifiedBy>PptxGenJS</cp:lastModifiedBy>
  <cp:revision>1</cp:revision>
  <dcterms:created xsi:type="dcterms:W3CDTF">2026-10-24T22:07:04Z</dcterms:created>
  <dcterms:modified xsi:type="dcterms:W3CDTF">2026-10-24T22:07:04Z</dcterms:modified>
</cp:coreProperties>
</file>