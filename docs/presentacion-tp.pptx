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8a2ec515-e8f7-3554-3d8f-c80a7cceb027}">
          <p14:sldIdLst>
            <p14:sldId id="256"/>
          </p14:sldIdLst>
        </p14:section>
        <p14:section name="Problema" id="{a8e7a517-75e6-4294-bad1-df95cd66844d}">
          <p14:sldIdLst>
            <p14:sldId id="257"/>
            <p14:sldId id="258"/>
          </p14:sldIdLst>
        </p14:section>
        <p14:section name="Cómo funciona" id="{c1a2326d-6535-a386-05f5-1c1bb5eaa6a2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Qué encontramos" id="{539d5d2a-5ae0-3259-b662-9b7ee0bbb488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Cierre" id="{48c7c7cb-4d8c-2327-4190-f868de807b78}">
          <p14:sldIdLst>
            <p14:sldId id="276"/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medios</c:v>
                </c:pt>
              </c:strCache>
            </c:strRef>
          </c:tx>
          <c:spPr>
            <a:solidFill>
              <a:srgbClr val="1F5F8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pysentimiento solo</c:v>
                  </c:pt>
                  <c:pt idx="1">
                    <c:v>Modelo inicial (palabras)</c:v>
                  </c:pt>
                  <c:pt idx="2">
                    <c:v>Solo probas BERT</c:v>
                  </c:pt>
                  <c:pt idx="3">
                    <c:v>Embeddings + reg. logística</c:v>
                  </c:pt>
                  <c:pt idx="4">
                    <c:v>XLM-RoBERTa solo</c:v>
                  </c:pt>
                  <c:pt idx="5">
                    <c:v>Palabras + pysentimiento</c:v>
                  </c:pt>
                  <c:pt idx="6">
                    <c:v>Palabras + ambos BERT</c:v>
                  </c:pt>
                  <c:pt idx="7">
                    <c:v>Palabras + XLM-RoBERTa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64.4</c:v>
                </c:pt>
                <c:pt idx="1">
                  <c:v>70.3</c:v>
                </c:pt>
                <c:pt idx="2">
                  <c:v>72.4</c:v>
                </c:pt>
                <c:pt idx="3">
                  <c:v>72.4</c:v>
                </c:pt>
                <c:pt idx="4">
                  <c:v>74.1</c:v>
                </c:pt>
                <c:pt idx="5">
                  <c:v>75</c:v>
                </c:pt>
                <c:pt idx="6">
                  <c:v>75.3</c:v>
                </c:pt>
                <c:pt idx="7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destacado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pysentimiento solo</c:v>
                  </c:pt>
                  <c:pt idx="1">
                    <c:v>Modelo inicial (palabras)</c:v>
                  </c:pt>
                  <c:pt idx="2">
                    <c:v>Solo probas BERT</c:v>
                  </c:pt>
                  <c:pt idx="3">
                    <c:v>Embeddings + reg. logística</c:v>
                  </c:pt>
                  <c:pt idx="4">
                    <c:v>XLM-RoBERTa solo</c:v>
                  </c:pt>
                  <c:pt idx="5">
                    <c:v>Palabras + pysentimiento</c:v>
                  </c:pt>
                  <c:pt idx="6">
                    <c:v>Palabras + ambos BERT</c:v>
                  </c:pt>
                  <c:pt idx="7">
                    <c:v>Palabras + XLM-RoBERTa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76.8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.6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medios</c:v>
                </c:pt>
              </c:strCache>
            </c:strRef>
          </c:tx>
          <c:spPr>
            <a:solidFill>
              <a:srgbClr val="1F5F8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La Gaceta</c:v>
                  </c:pt>
                  <c:pt idx="1">
                    <c:v>Canal 26</c:v>
                  </c:pt>
                  <c:pt idx="2">
                    <c:v>La Nación</c:v>
                  </c:pt>
                  <c:pt idx="3">
                    <c:v>El Trece</c:v>
                  </c:pt>
                  <c:pt idx="4">
                    <c:v>TN</c:v>
                  </c:pt>
                  <c:pt idx="5">
                    <c:v>C5N</c:v>
                  </c:pt>
                  <c:pt idx="6">
                    <c:v>Eldoce</c:v>
                  </c:pt>
                  <c:pt idx="7">
                    <c:v>Radio Mitre</c:v>
                  </c:pt>
                  <c:pt idx="8">
                    <c:v>El Destape</c:v>
                  </c:pt>
                  <c:pt idx="9">
                    <c:v>A24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13.6</c:v>
                </c:pt>
                <c:pt idx="1">
                  <c:v>14.6</c:v>
                </c:pt>
                <c:pt idx="2">
                  <c:v>14.8</c:v>
                </c:pt>
                <c:pt idx="3">
                  <c:v>15.8</c:v>
                </c:pt>
                <c:pt idx="4">
                  <c:v>16.1</c:v>
                </c:pt>
                <c:pt idx="5">
                  <c:v>16.8</c:v>
                </c:pt>
                <c:pt idx="6">
                  <c:v>17.9</c:v>
                </c:pt>
                <c:pt idx="7">
                  <c:v>18.8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destacado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La Gaceta</c:v>
                  </c:pt>
                  <c:pt idx="1">
                    <c:v>Canal 26</c:v>
                  </c:pt>
                  <c:pt idx="2">
                    <c:v>La Nación</c:v>
                  </c:pt>
                  <c:pt idx="3">
                    <c:v>El Trece</c:v>
                  </c:pt>
                  <c:pt idx="4">
                    <c:v>TN</c:v>
                  </c:pt>
                  <c:pt idx="5">
                    <c:v>C5N</c:v>
                  </c:pt>
                  <c:pt idx="6">
                    <c:v>Eldoce</c:v>
                  </c:pt>
                  <c:pt idx="7">
                    <c:v>Radio Mitre</c:v>
                  </c:pt>
                  <c:pt idx="8">
                    <c:v>El Destape</c:v>
                  </c:pt>
                  <c:pt idx="9">
                    <c:v>A24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19.3</c:v>
                </c:pt>
                <c:pt idx="9">
                  <c:v>22.2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.3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medios</c:v>
                </c:pt>
              </c:strCache>
            </c:strRef>
          </c:tx>
          <c:spPr>
            <a:solidFill>
              <a:srgbClr val="6B6B6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El Chubut</c:v>
                  </c:pt>
                  <c:pt idx="1">
                    <c:v>Río Negro</c:v>
                  </c:pt>
                  <c:pt idx="2">
                    <c:v>TN</c:v>
                  </c:pt>
                  <c:pt idx="3">
                    <c:v>Uno Santa Fe</c:v>
                  </c:pt>
                  <c:pt idx="4">
                    <c:v>Elonce</c:v>
                  </c:pt>
                  <c:pt idx="5">
                    <c:v>Perfil</c:v>
                  </c:pt>
                  <c:pt idx="6">
                    <c:v>Aire de Santa Fe</c:v>
                  </c:pt>
                  <c:pt idx="7">
                    <c:v>Eldoce</c:v>
                  </c:pt>
                  <c:pt idx="8">
                    <c:v>La Voz</c:v>
                  </c:pt>
                  <c:pt idx="9">
                    <c:v>Diario Chaco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19.1</c:v>
                </c:pt>
                <c:pt idx="1">
                  <c:v>27</c:v>
                </c:pt>
                <c:pt idx="2">
                  <c:v>27.4</c:v>
                </c:pt>
                <c:pt idx="3">
                  <c:v>27.5</c:v>
                </c:pt>
                <c:pt idx="4">
                  <c:v>29.8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destacado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El Chubut</c:v>
                  </c:pt>
                  <c:pt idx="1">
                    <c:v>Río Negro</c:v>
                  </c:pt>
                  <c:pt idx="2">
                    <c:v>TN</c:v>
                  </c:pt>
                  <c:pt idx="3">
                    <c:v>Uno Santa Fe</c:v>
                  </c:pt>
                  <c:pt idx="4">
                    <c:v>Elonce</c:v>
                  </c:pt>
                  <c:pt idx="5">
                    <c:v>Perfil</c:v>
                  </c:pt>
                  <c:pt idx="6">
                    <c:v>Aire de Santa Fe</c:v>
                  </c:pt>
                  <c:pt idx="7">
                    <c:v>Eldoce</c:v>
                  </c:pt>
                  <c:pt idx="8">
                    <c:v>La Voz</c:v>
                  </c:pt>
                  <c:pt idx="9">
                    <c:v>Diario Chaco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46.9</c:v>
                </c:pt>
                <c:pt idx="6">
                  <c:v>47.6</c:v>
                </c:pt>
                <c:pt idx="7">
                  <c:v>49.6</c:v>
                </c:pt>
                <c:pt idx="8">
                  <c:v>50.3</c:v>
                </c:pt>
                <c:pt idx="9">
                  <c:v>51.2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3.76000000000000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medios</c:v>
                </c:pt>
              </c:strCache>
            </c:strRef>
          </c:tx>
          <c:spPr>
            <a:solidFill>
              <a:srgbClr val="1F5F8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Los Andes</c:v>
                  </c:pt>
                  <c:pt idx="1">
                    <c:v>Página/12</c:v>
                  </c:pt>
                  <c:pt idx="2">
                    <c:v>Noticias Argentinas</c:v>
                  </c:pt>
                  <c:pt idx="3">
                    <c:v>Infobae</c:v>
                  </c:pt>
                  <c:pt idx="4">
                    <c:v>Eldoce</c:v>
                  </c:pt>
                  <c:pt idx="5">
                    <c:v>TN</c:v>
                  </c:pt>
                  <c:pt idx="6">
                    <c:v>El Cronista</c:v>
                  </c:pt>
                  <c:pt idx="7">
                    <c:v>Misiones Online</c:v>
                  </c:pt>
                  <c:pt idx="8">
                    <c:v>Perfil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44.4</c:v>
                </c:pt>
                <c:pt idx="1">
                  <c:v>44.8</c:v>
                </c:pt>
                <c:pt idx="2">
                  <c:v>45.5</c:v>
                </c:pt>
                <c:pt idx="3">
                  <c:v>46.4</c:v>
                </c:pt>
                <c:pt idx="4">
                  <c:v>63.9</c:v>
                </c:pt>
                <c:pt idx="5">
                  <c:v>64.9</c:v>
                </c:pt>
                <c:pt idx="6">
                  <c:v>69.5</c:v>
                </c:pt>
                <c:pt idx="7">
                  <c:v>77.6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destacado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Los Andes</c:v>
                  </c:pt>
                  <c:pt idx="1">
                    <c:v>Página/12</c:v>
                  </c:pt>
                  <c:pt idx="2">
                    <c:v>Noticias Argentinas</c:v>
                  </c:pt>
                  <c:pt idx="3">
                    <c:v>Infobae</c:v>
                  </c:pt>
                  <c:pt idx="4">
                    <c:v>Eldoce</c:v>
                  </c:pt>
                  <c:pt idx="5">
                    <c:v>TN</c:v>
                  </c:pt>
                  <c:pt idx="6">
                    <c:v>El Cronista</c:v>
                  </c:pt>
                  <c:pt idx="7">
                    <c:v>Misiones Online</c:v>
                  </c:pt>
                  <c:pt idx="8">
                    <c:v>Perfil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92.2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6.8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Presentación. La pregunta del título es el hilo: cada día los medios cuentan los mismos hechos con énfasis distintos, y queremos medirlo de forma automática.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Nadie puede leer 3.000 titulares por hora. Las preguntas interesantes no están en una nota sino en el conjunto. Estas cinco preguntas guían todo el trabajo.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números para fijar la escala. Todo corre en GitHub Actions sin intervención; el tablero y la base son públicos.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el flujo de izquierda a derecha. Remarcar que el paso 3, entrar a cada nota, es lo que convierte esto en web mining real y no solo lectura de RSS.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APIs de noticias limitan pedidos y no cubren medios regionales. Un trabajo de 2025 terminó en NewsAPI. Nosotros combinamos RSS propio con Google News por sitio. El problema de Google News: da una URL de redirección y ninguna bajada; lo resolvemos en la etapa de scraping.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Distinción de clase: páginas de listado y de detalle. Los feeds son listados; cada nota es una página de detalle. Decodificamos el enlace de Google News, bajamos el HTML y leemos dos cosas: la meta og:description (la bajada) y el bloque JSON-LD NewsArticle que los diarios incrustan para Google. 41 de 44 medios lo publican.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Ninguno de los trabajos de 2025 trató este punto. Respetamos robots.txt (0 bloqueos en miles de pedidos), nos identificamos, limitamos la carga y no guardamos el texto completo de las notas: solo título, bajada y metadatos, siempre enlazando al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Mantener scrapers es costoso porque la web es dinámica (lo vimos en clase). Registramos salud por fuente, resultado del scraping y notas descartadas, y eso nos permitió detectar estos problemas reales. Cada corrección también limpia lo ya guardado.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Bolsa de palabras y modelo vectorial como base. Temas: reglas sobre título y bajada más un Naive Bayes con supervisión débil, que aprende de lo que las reglas clasificaron y solo asigna tema si está seguro. Entidades: diccionario con alias. Tono: lo vemos en la próxima.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Comparamos 8 enfoques sobre 340 titulares etiquetados a mano, con validación cruzada de 5 pliegues. Un BERT entrenado con tuits (pysentimiento) rinde peor que el modelo simple: mide la emoción de quien escribe, no si el hecho es bueno o malo. La combinación de rasgos propios con XLM-RoBERTa gana, y sobre todo detecta muchas más noticias negativas.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técnicas para que el sistema no dependa solo de listas fijas. NER con spaCy descubre figuras nuevas, como Fundación Faro o Gonzalo Belloso. Los embeddings de oraciones encuentran la misma noticia contada con otras palabras y permiten buscar por significado desde el navegador. El aprendizaje activo elige los titulares donde el modelo de tono duda para que los etiquetemos a mano: el modelo pide ayuda donde más la necesita. En la primera ronda (60 titulares) el acierto se mantuvo en 76%: el modelo coincidía con nosotros solo en el 42% de esos casos y, aun reentrenado, acierta el 37% en ellos, casi el azar. Conclusión honesta: no eran errores aprendibles sino titulares ambiguos; la ronda sirvió para delimitar la frontera del criterio.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termómetro es el porcentaje estimado de notas negativas de las últimas 24 horas, de 0 a 100, con bandas y la comparación contra los días anteriores. El resumen lo arma el tablero con plantillas a partir de los datos: tema más cubierto, noticia más compartida y quién la publicó primero, figura más mencionada, medio más y menos negativo. No usa un modelo de lenguaje: es reproducible y gratis.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Exageración: comparamos el tono del título con el de la bajada, que es el resumen escrito por el propio medio. Cebo: rasgos de clickbait. Transparencia: notas firmadas por una persona según el JSON-LD.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Porcentaje de títulos con al menos un recurso de cebo. En el otro extremo, Rosario Nuestro, El Chubut, Perfil están por debajo del 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punto es un medio. Eje horizontal: cebo. Eje vertical: exageración respecto de la propia bajada. Las líneas son las medianas y dividen en cuatro estilos. A24, El Trece, Radio Mitre y TN quedan como sensacionalistas; Elonce y El Chubut como sobrios. Es una medición automática con error conocido: comparar medios, no juzgar 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Proporción de notas con tono negativo según el modelo combinado, medios con 60 notas o más. Muestra los 5 más negativos y los 5 menos negativos. El tono mide el hecho, no la postura del medio: un medio con más policiales tiene más negativas.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Proporción de notas firmadas por una persona, según el autor declarado en el JSON-LD de cada nota. Medios con 40 notas o más con datos estructurados.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sistema agrupa las notas que cuentan lo mismo (TF-IDF y similitud coseno) y muestra el título de cada medio en orden de publicación, con su tono y sus recursos de cebo. Ejemplo: el sobreseimiento de Milei en la causa Libra lo cubrieron 12 medios; la publicó primero El Cronista y el último llegó 8 horas después. Con eso también medimos quién llega primero.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medio por figura: porcentaje de notas negativas cuando el medio menciona a esa figura. Rojo: más negativo que el promedio de los medios; verde: menos. Solo celdas con 3 notas o más. Con pocos días de datos los valores son ilustrativos: muestran el método.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Grafo de medios: una arista une a dos medios que cubren las mismas historias, ponderada por historias compartidas sobre las del medio más chico; cada medio conserva sus 3 vínculos más fuertes. Las comunidades salen de propagación de etiquetas y el dibujo es una disposición por fuerzas. Es la rama de minería de estructura de la teoría, aplicada a la cobertura y no a los links.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tablero en vivo. Recorrer Resumen, Titulares (con buscador), Monitor (seguir una persona), Cómo titulan y Salud de datos. Es una página estática en GitHub Pages: funciona también en el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el tablero, tocar Explorar la base (SQL). Datasette Lite corre SQLite en el navegador con WebAssembly: no hay que instalar nada. Correr esta consulta y después una propuesta por la clase.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 servidores ni costos: todo corre en GitHub. SQLite simplifica la operación y se puede abrir en el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claros con los límites: el tono es del título, 77% de acierto, 340 etiquetas de un criterio. El histórico es corto. Próximos pasos: NER con spaCy, evolución de comunidades, cruce con datos económicos y más etiquetas manuales.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con la invitación a probarlo en vivo.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100584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9144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Monitor de medios argentinos · Web Mining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WEB MINING · MAESTRÍA EN CIENCIA DE DATOS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¿Cómo nos cuentan las noticias?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Un monitor automático de 46 medios argentinos: agenda, tono y estilo de titulación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[completar]   ·   Octubre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PROBLEMA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mismo día, contado de 46 maneras distintas</a:t>
            </a:r>
            <a:endParaRPr lang="en-US" sz="3200" dirty="0"/>
          </a:p>
        </p:txBody>
      </p:sp>
      <p:sp>
        <p:nvSpPr>
          <p:cNvPr id="5" name="pregunta-0"/>
          <p:cNvSpPr/>
          <p:nvPr/>
        </p:nvSpPr>
        <p:spPr>
          <a:xfrm>
            <a:off x="548640" y="1965960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03120"/>
            <a:ext cx="228600" cy="228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80160" y="202082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qué se habla hoy y qué crece respecto de lo habitual?</a:t>
            </a:r>
            <a:endParaRPr lang="en-US" sz="1700" dirty="0"/>
          </a:p>
        </p:txBody>
      </p:sp>
      <p:sp>
        <p:nvSpPr>
          <p:cNvPr id="8" name="pregunta-1"/>
          <p:cNvSpPr/>
          <p:nvPr/>
        </p:nvSpPr>
        <p:spPr>
          <a:xfrm>
            <a:off x="548640" y="2770632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07792"/>
            <a:ext cx="228600" cy="2286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282549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medios cubren un tema o una persona, y con qué tono?</a:t>
            </a:r>
            <a:endParaRPr lang="en-US" sz="1700" dirty="0"/>
          </a:p>
        </p:txBody>
      </p:sp>
      <p:sp>
        <p:nvSpPr>
          <p:cNvPr id="11" name="pregunta-2"/>
          <p:cNvSpPr/>
          <p:nvPr/>
        </p:nvSpPr>
        <p:spPr>
          <a:xfrm>
            <a:off x="548640" y="3575304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712464"/>
            <a:ext cx="228600" cy="2286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80160" y="363016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noticias cubre todo el ecosistema y cuáles son exclusivas?</a:t>
            </a:r>
            <a:endParaRPr lang="en-US" sz="1700" dirty="0"/>
          </a:p>
        </p:txBody>
      </p:sp>
      <p:sp>
        <p:nvSpPr>
          <p:cNvPr id="14" name="pregunta-3"/>
          <p:cNvSpPr/>
          <p:nvPr/>
        </p:nvSpPr>
        <p:spPr>
          <a:xfrm>
            <a:off x="548640" y="4379976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517136"/>
            <a:ext cx="228600" cy="2286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80160" y="4434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titula de forma más alarmista o con más clickbait?</a:t>
            </a:r>
            <a:endParaRPr lang="en-US" sz="1700" dirty="0"/>
          </a:p>
        </p:txBody>
      </p:sp>
      <p:sp>
        <p:nvSpPr>
          <p:cNvPr id="17" name="pregunta-4"/>
          <p:cNvSpPr/>
          <p:nvPr/>
        </p:nvSpPr>
        <p:spPr>
          <a:xfrm>
            <a:off x="548640" y="5184648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321808"/>
            <a:ext cx="228600" cy="2286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280160" y="52395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 contenido está firmado y cuánto sale como "Redacción"?</a:t>
            </a:r>
            <a:endParaRPr lang="en-US" sz="1700" dirty="0"/>
          </a:p>
        </p:txBody>
      </p:sp>
      <p:sp>
        <p:nvSpPr>
          <p:cNvPr id="20" name="dato"/>
          <p:cNvSpPr/>
          <p:nvPr/>
        </p:nvSpPr>
        <p:spPr>
          <a:xfrm>
            <a:off x="7680960" y="1965960"/>
            <a:ext cx="3959352" cy="3931920"/>
          </a:xfrm>
          <a:prstGeom prst="roundRect">
            <a:avLst>
              <a:gd name="adj" fmla="val 186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8001000" y="23774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≈3.000</a:t>
            </a:r>
            <a:endParaRPr lang="en-US" sz="6600" dirty="0"/>
          </a:p>
        </p:txBody>
      </p:sp>
      <p:sp>
        <p:nvSpPr>
          <p:cNvPr id="22" name="Text 14"/>
          <p:cNvSpPr txBox="1"/>
          <p:nvPr/>
        </p:nvSpPr>
        <p:spPr>
          <a:xfrm>
            <a:off x="8001000" y="3429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titulares por corrida, de 46 medios, cada media hora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8001000" y="438912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Leerlos a mano es inviable: hay que extraerlos, estructurarlos y medirlos de forma automática.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 SOLUCIÓN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monitor que corre solo, cada 30 minutos, y publica todo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546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medios: diarios, portales, TV, radios y fuentes oficiales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389120" y="21945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5.302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4389120" y="31546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en la base, con tema, tono, entidades y estilo de título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21945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31546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cada 30 minutos; tablero y base SQL publicados en GitHub Pages</a:t>
            </a:r>
            <a:endParaRPr lang="en-US" sz="1500" dirty="0"/>
          </a:p>
        </p:txBody>
      </p:sp>
      <p:sp>
        <p:nvSpPr>
          <p:cNvPr id="11" name="frase"/>
          <p:cNvSpPr/>
          <p:nvPr/>
        </p:nvSpPr>
        <p:spPr>
          <a:xfrm>
            <a:off x="548640" y="466344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489204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mining de punta a punta: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crawling de feeds, scraping de cada nota, procesamiento de lenguaje con BERT, base de datos histórica e indicadores comparables entre medios.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ARQUITECTURA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etapas, de los feeds al tablero</a:t>
            </a:r>
            <a:endParaRPr lang="en-US" sz="3200" dirty="0"/>
          </a:p>
        </p:txBody>
      </p:sp>
      <p:sp>
        <p:nvSpPr>
          <p:cNvPr id="5" name="etapa-0"/>
          <p:cNvSpPr/>
          <p:nvPr/>
        </p:nvSpPr>
        <p:spPr>
          <a:xfrm>
            <a:off x="548640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y Google News de 46 medios, en paralelo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8434" y="3364992"/>
            <a:ext cx="219456" cy="219456"/>
          </a:xfrm>
          <a:prstGeom prst="rect">
            <a:avLst/>
          </a:prstGeom>
        </p:spPr>
      </p:pic>
      <p:sp>
        <p:nvSpPr>
          <p:cNvPr id="10" name="etapa-1"/>
          <p:cNvSpPr/>
          <p:nvPr/>
        </p:nvSpPr>
        <p:spPr>
          <a:xfrm>
            <a:off x="2447483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630363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630363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630363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 no-notas, fechas imposibles y duplicados</a:t>
            </a:r>
            <a:endParaRPr lang="en-US" sz="13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277" y="3364992"/>
            <a:ext cx="219456" cy="219456"/>
          </a:xfrm>
          <a:prstGeom prst="rect">
            <a:avLst/>
          </a:prstGeom>
        </p:spPr>
      </p:pic>
      <p:sp>
        <p:nvSpPr>
          <p:cNvPr id="15" name="etapa-2"/>
          <p:cNvSpPr/>
          <p:nvPr/>
        </p:nvSpPr>
        <p:spPr>
          <a:xfrm>
            <a:off x="4346326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29206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4529206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4529206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a cada nota: bajada y JSON-LD</a:t>
            </a:r>
            <a:endParaRPr lang="en-US" sz="13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120" y="3364992"/>
            <a:ext cx="219456" cy="219456"/>
          </a:xfrm>
          <a:prstGeom prst="rect">
            <a:avLst/>
          </a:prstGeom>
        </p:spPr>
      </p:pic>
      <p:sp>
        <p:nvSpPr>
          <p:cNvPr id="20" name="etapa-3"/>
          <p:cNvSpPr/>
          <p:nvPr/>
        </p:nvSpPr>
        <p:spPr>
          <a:xfrm>
            <a:off x="6245169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428049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16"/>
          <p:cNvSpPr txBox="1"/>
          <p:nvPr/>
        </p:nvSpPr>
        <p:spPr>
          <a:xfrm>
            <a:off x="6428049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6428049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Tema, entidades, tono con BERT, cebo</a:t>
            </a:r>
            <a:endParaRPr lang="en-US" sz="13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4963" y="3364992"/>
            <a:ext cx="219456" cy="219456"/>
          </a:xfrm>
          <a:prstGeom prst="rect">
            <a:avLst/>
          </a:prstGeom>
        </p:spPr>
      </p:pic>
      <p:sp>
        <p:nvSpPr>
          <p:cNvPr id="25" name="etapa-4"/>
          <p:cNvSpPr/>
          <p:nvPr/>
        </p:nvSpPr>
        <p:spPr>
          <a:xfrm>
            <a:off x="8144012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326892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27" name="Text 20"/>
          <p:cNvSpPr txBox="1"/>
          <p:nvPr/>
        </p:nvSpPr>
        <p:spPr>
          <a:xfrm>
            <a:off x="8326892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326892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90 días, CSV exportable</a:t>
            </a:r>
            <a:endParaRPr lang="en-US" sz="130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3806" y="3364992"/>
            <a:ext cx="219456" cy="219456"/>
          </a:xfrm>
          <a:prstGeom prst="rect">
            <a:avLst/>
          </a:prstGeom>
        </p:spPr>
      </p:pic>
      <p:sp>
        <p:nvSpPr>
          <p:cNvPr id="30" name="etapa-5"/>
          <p:cNvSpPr/>
          <p:nvPr/>
        </p:nvSpPr>
        <p:spPr>
          <a:xfrm>
            <a:off x="10042855" y="228600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10225735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2" name="Text 24"/>
          <p:cNvSpPr txBox="1"/>
          <p:nvPr/>
        </p:nvSpPr>
        <p:spPr>
          <a:xfrm>
            <a:off x="10225735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10225735" y="35204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pestañas + SQL en el navegador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5120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corre el pipeline cada 30 minutos, guarda la base en una rama de datos y publica el tablero en GitHub Pages. La primera corrida con BERT tarda 10 minutos; las siguientes, 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FUENTES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vías para llegar a 46 medios sin claves ni costo</a:t>
            </a:r>
            <a:endParaRPr lang="en-US" sz="3200" dirty="0"/>
          </a:p>
        </p:txBody>
      </p:sp>
      <p:sp>
        <p:nvSpPr>
          <p:cNvPr id="5" name="fuente-0"/>
          <p:cNvSpPr/>
          <p:nvPr/>
        </p:nvSpPr>
        <p:spPr>
          <a:xfrm>
            <a:off x="548640" y="201168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propio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4114800" y="2286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medios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29718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XML del medio: título, enlace, fecha y bajada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vía más limpia y estable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Clarín, Infobae, La Nación, La Capital, TN…</a:t>
            </a:r>
            <a:endParaRPr lang="en-US" sz="1600" dirty="0"/>
          </a:p>
        </p:txBody>
      </p:sp>
      <p:sp>
        <p:nvSpPr>
          <p:cNvPr id="10" name="fuente-1"/>
          <p:cNvSpPr/>
          <p:nvPr/>
        </p:nvSpPr>
        <p:spPr>
          <a:xfrm>
            <a:off x="6217920" y="201168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28600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17804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News por sitio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9784080" y="2286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medios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537960" y="29718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site:dominio de las últimas 48 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 los medios sin RSS útil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devuelve una URL de Google y sin bajada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4846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3.724 de 5.302 notas </a:t>
            </a:r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llegaron por Google News: sin el paso siguiente, solo tendríamos su título.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SCRAPING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Entramos a cada nota para leer lo que el RSS no trae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632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notas analizadas entrando a su página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31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87%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892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bajada (el resumen del propio medio)</a:t>
            </a:r>
            <a:endParaRPr lang="en-US" sz="1500" dirty="0"/>
          </a:p>
        </p:txBody>
      </p:sp>
      <p:sp>
        <p:nvSpPr>
          <p:cNvPr id="9" name="jsonld"/>
          <p:cNvSpPr/>
          <p:nvPr/>
        </p:nvSpPr>
        <p:spPr>
          <a:xfrm>
            <a:off x="4206240" y="2103120"/>
            <a:ext cx="7434072" cy="3840480"/>
          </a:xfrm>
          <a:prstGeom prst="roundRect">
            <a:avLst>
              <a:gd name="adj" fmla="val 1905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26280" y="233172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HTML de cada nota extraemos</a:t>
            </a:r>
            <a:endParaRPr lang="en-US" sz="18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2926080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937760" y="2880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real: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decodificando el enlace de Google News</a:t>
            </a:r>
            <a:endParaRPr lang="en-US" sz="16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3493008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937760" y="34472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Bajada: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og:description o primer párrafo real</a:t>
            </a:r>
            <a:endParaRPr lang="en-US" sz="16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40599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937760" y="401421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 y firma: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o "Redacción", desde el JSON-LD</a:t>
            </a:r>
            <a:endParaRPr lang="en-US" sz="16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462686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937760" y="458114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y palabras clave: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las clasifica el propio medio</a:t>
            </a:r>
            <a:endParaRPr lang="en-US" sz="16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5193792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4937760" y="514807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 del cuerpo: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palabras de la nota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ÉTICA DESDE EL DISEÑO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crawler "bien educado", como pide la teoría</a:t>
            </a:r>
            <a:endParaRPr lang="en-US" sz="3200" dirty="0"/>
          </a:p>
        </p:txBody>
      </p:sp>
      <p:sp>
        <p:nvSpPr>
          <p:cNvPr id="5" name="regla-0"/>
          <p:cNvSpPr/>
          <p:nvPr/>
        </p:nvSpPr>
        <p:spPr>
          <a:xfrm>
            <a:off x="548640" y="20116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6" name="icono-0"/>
          <p:cNvSpPr/>
          <p:nvPr/>
        </p:nvSpPr>
        <p:spPr>
          <a:xfrm>
            <a:off x="822960" y="233172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51460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83080" y="22860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robots.txt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1783080" y="27432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lee por dominio antes de pedir una nota. 0 bloqueos en 5.548 pedidos.</a:t>
            </a:r>
            <a:endParaRPr lang="en-US" sz="1500" dirty="0"/>
          </a:p>
        </p:txBody>
      </p:sp>
      <p:sp>
        <p:nvSpPr>
          <p:cNvPr id="10" name="regla-1"/>
          <p:cNvSpPr/>
          <p:nvPr/>
        </p:nvSpPr>
        <p:spPr>
          <a:xfrm>
            <a:off x="6217920" y="20116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1" name="icono-1"/>
          <p:cNvSpPr/>
          <p:nvPr/>
        </p:nvSpPr>
        <p:spPr>
          <a:xfrm>
            <a:off x="6492240" y="233172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5146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52360" y="22860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identificamos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7452360" y="27432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User-Agent propio que enlaza al proyecto: monitor-de-medios/1.0</a:t>
            </a:r>
            <a:endParaRPr lang="en-US" sz="1500" dirty="0"/>
          </a:p>
        </p:txBody>
      </p:sp>
      <p:sp>
        <p:nvSpPr>
          <p:cNvPr id="15" name="regla-2"/>
          <p:cNvSpPr/>
          <p:nvPr/>
        </p:nvSpPr>
        <p:spPr>
          <a:xfrm>
            <a:off x="548640" y="393192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6" name="icono-2"/>
          <p:cNvSpPr/>
          <p:nvPr/>
        </p:nvSpPr>
        <p:spPr>
          <a:xfrm>
            <a:off x="822960" y="425196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43484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783080" y="4206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acotada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1783080" y="46634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2 pedidos a la vez por sitio y topes de notas y tiempo por corrida.</a:t>
            </a:r>
            <a:endParaRPr lang="en-US" sz="1500" dirty="0"/>
          </a:p>
        </p:txBody>
      </p:sp>
      <p:sp>
        <p:nvSpPr>
          <p:cNvPr id="20" name="regla-3"/>
          <p:cNvSpPr/>
          <p:nvPr/>
        </p:nvSpPr>
        <p:spPr>
          <a:xfrm>
            <a:off x="6217920" y="393192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1" name="icono-3"/>
          <p:cNvSpPr/>
          <p:nvPr/>
        </p:nvSpPr>
        <p:spPr>
          <a:xfrm>
            <a:off x="6492240" y="425196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434840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452360" y="4206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insistir</a:t>
            </a:r>
            <a:endParaRPr lang="en-US" sz="2000" dirty="0"/>
          </a:p>
        </p:txBody>
      </p:sp>
      <p:sp>
        <p:nvSpPr>
          <p:cNvPr id="24" name="Text 17"/>
          <p:cNvSpPr txBox="1"/>
          <p:nvPr/>
        </p:nvSpPr>
        <p:spPr>
          <a:xfrm>
            <a:off x="7452360" y="46634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Reintentos con espera creciente; una nota que falla dos veces no se vuelve a pedir.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guardamos el texto completo de las notas: solo título, bajada y metadatos, siempre con enlace al original.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MANTENER UN SCRAPER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web cambia: el scraper se vigila a sí mismo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Síntoma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Bajadas con código JavaScript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respaldo de "primer párrafo" tomaba &lt;path o código de un carrusel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&lt;p&gt; reales, sin scripts; se descarta texto con forma de código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"&amp;amp;quot;" en el texto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Sitios que escapan las entidades dos veces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Doble decodificación de entidades HTML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"podrÃ¡" en vez de "podrá"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Páginas UTF-8 sin charset leídas como Latin-1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Forzar UTF-8 y reparar los tramos rotos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 caído o degradado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 vacío o con menos de la mitad de lo habitual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Tabla salud y alerta en el tablero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>
                    <a:lnL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PROCESAMIENTO DE 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nota recibe tema, entidades, tono y cebo</a:t>
            </a:r>
            <a:endParaRPr lang="en-US" sz="3200" dirty="0"/>
          </a:p>
        </p:txBody>
      </p:sp>
      <p:sp>
        <p:nvSpPr>
          <p:cNvPr id="5" name="nlp-0"/>
          <p:cNvSpPr/>
          <p:nvPr/>
        </p:nvSpPr>
        <p:spPr>
          <a:xfrm>
            <a:off x="54864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temas. Reglas sobre título + bajada, y un Naive Bayes que aprende de lo que las reglas ya clasificaron (supervisión débil).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"Otros": 24% → menos del 5%</a:t>
            </a:r>
            <a:endParaRPr lang="en-US" sz="1500" dirty="0"/>
          </a:p>
        </p:txBody>
      </p:sp>
      <p:sp>
        <p:nvSpPr>
          <p:cNvPr id="10" name="nlp-1"/>
          <p:cNvSpPr/>
          <p:nvPr/>
        </p:nvSpPr>
        <p:spPr>
          <a:xfrm>
            <a:off x="429768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28600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1772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461772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personas, instituciones y clubes con sus alias y reglas de desambiguación ("Banco Central" no es Rosario Central).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mencionados: Milei, Messi, el papa</a:t>
            </a:r>
            <a:endParaRPr lang="en-US" sz="1500" dirty="0"/>
          </a:p>
        </p:txBody>
      </p:sp>
      <p:sp>
        <p:nvSpPr>
          <p:cNvPr id="15" name="nlp-2"/>
          <p:cNvSpPr/>
          <p:nvPr/>
        </p:nvSpPr>
        <p:spPr>
          <a:xfrm>
            <a:off x="804672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28600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676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836676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hecho es bueno o malo para los involucrados. Palabras + probabilidades de BERT, sobre el título y sobre la bajada.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6676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de acierto con validación cruzada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TONO CON BERT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Combinar palabras con BERT sube el acierto de 70% a 77%</a:t>
            </a:r>
            <a:endParaRPr lang="en-US" sz="3200" dirty="0"/>
          </a:p>
        </p:txBody>
      </p:sp>
      <p:graphicFrame>
        <p:nvGraphicFramePr>
          <p:cNvPr id="5" name="grafico" descr=""/>
          <p:cNvGraphicFramePr/>
          <p:nvPr/>
        </p:nvGraphicFramePr>
        <p:xfrm>
          <a:off x="457200" y="187452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863840" y="21031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77%</a:t>
            </a:r>
            <a:endParaRPr lang="en-US" sz="6000" dirty="0"/>
          </a:p>
        </p:txBody>
      </p:sp>
      <p:sp>
        <p:nvSpPr>
          <p:cNvPr id="7" name="Text 3"/>
          <p:cNvSpPr txBox="1"/>
          <p:nvPr/>
        </p:nvSpPr>
        <p:spPr>
          <a:xfrm>
            <a:off x="7863840" y="30632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acierto (antes 70%), medido con notas que el modelo no vio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7863840" y="4023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84%</a:t>
            </a:r>
            <a:endParaRPr lang="en-US" sz="6000" dirty="0"/>
          </a:p>
        </p:txBody>
      </p:sp>
      <p:sp>
        <p:nvSpPr>
          <p:cNvPr id="9" name="Text 5"/>
          <p:cNvSpPr txBox="1"/>
          <p:nvPr/>
        </p:nvSpPr>
        <p:spPr>
          <a:xfrm>
            <a:off x="7863840" y="4983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notas negativas detectadas (antes 65%)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MÁS ALLÁ DEL DICCIONARIO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aprende lo que no le enseñamos</a:t>
            </a:r>
            <a:endParaRPr lang="en-US" sz="3200" dirty="0"/>
          </a:p>
        </p:txBody>
      </p:sp>
      <p:sp>
        <p:nvSpPr>
          <p:cNvPr id="5" name="mas-0"/>
          <p:cNvSpPr/>
          <p:nvPr/>
        </p:nvSpPr>
        <p:spPr>
          <a:xfrm>
            <a:off x="54864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Figuras nuevas (NER)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spaCy detecta personas e instituciones que no están en el diccionario y marca las que irrumpen hoy en la agenda.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Ej.: Fundación Faro, Gonzalo Belloso</a:t>
            </a:r>
            <a:endParaRPr lang="en-US" sz="1400" dirty="0"/>
          </a:p>
        </p:txBody>
      </p:sp>
      <p:sp>
        <p:nvSpPr>
          <p:cNvPr id="10" name="mas-1"/>
          <p:cNvSpPr/>
          <p:nvPr/>
        </p:nvSpPr>
        <p:spPr>
          <a:xfrm>
            <a:off x="429768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28600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1772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por significado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61772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MiniLM: notas parecidas de otros medios aunque no compartan palabras, y búsqueda semántica en el navegador.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"Murió una joven embarazada…" ↔ La Voz: 0,85</a:t>
            </a:r>
            <a:endParaRPr lang="en-US" sz="1400" dirty="0"/>
          </a:p>
        </p:txBody>
      </p:sp>
      <p:sp>
        <p:nvSpPr>
          <p:cNvPr id="15" name="mas-2"/>
          <p:cNvSpPr/>
          <p:nvPr/>
        </p:nvSpPr>
        <p:spPr>
          <a:xfrm>
            <a:off x="8046720" y="201168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28600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676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activo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366760" y="34290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 tono eligió los 60 titulares donde más dudaba; los etiquetamos a mano y reentrenamos.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66760" y="5166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76% → 76%; eran casos ambiguos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DÍA EN UN NÚMERO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termómetro y un resumen que se escriben solos</a:t>
            </a:r>
            <a:endParaRPr lang="en-US" sz="3200" dirty="0"/>
          </a:p>
        </p:txBody>
      </p:sp>
      <p:pic>
        <p:nvPicPr>
          <p:cNvPr id="5" name="termometro" descr="C:\Users\SBI\Documents\Martin Ceriotti Personales\Master Data Science\webmining\Web-Mining\docs\_fuentes\img\ter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11094415" cy="280476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1206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Termómetro: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notas negativas de las últimas 24 h (calmo, moderado, tenso, muy tenso).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redactado con plantillas a partir de los datos del día; sin modelo de lenguaje, reproducible.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CÓMO TITULA CADA MEDIO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indicadores para medir el estilo, no solo el contenido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0116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Exageración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560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título es negativo y la bajada del propio medio no lo es.</a:t>
            </a:r>
            <a:endParaRPr lang="en-US" sz="1400" dirty="0"/>
          </a:p>
        </p:txBody>
      </p:sp>
      <p:sp>
        <p:nvSpPr>
          <p:cNvPr id="8" name="ejemplo-0"/>
          <p:cNvSpPr/>
          <p:nvPr/>
        </p:nvSpPr>
        <p:spPr>
          <a:xfrm>
            <a:off x="4937760" y="2011680"/>
            <a:ext cx="6702552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12080" y="214884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"El dramático relato…" → bajada: datos del vuelo y los pasajeros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3832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3429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Cebo (clickbait)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3931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Preguntas, exclamaciones, adjetivos exagerados, intriga, segunda persona, listas.</a:t>
            </a:r>
            <a:endParaRPr lang="en-US" sz="1400" dirty="0"/>
          </a:p>
        </p:txBody>
      </p:sp>
      <p:sp>
        <p:nvSpPr>
          <p:cNvPr id="13" name="ejemplo-1"/>
          <p:cNvSpPr/>
          <p:nvPr/>
        </p:nvSpPr>
        <p:spPr>
          <a:xfrm>
            <a:off x="4937760" y="3383280"/>
            <a:ext cx="6702552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12080" y="352044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"¡Escándalo! Aseguran que…" · "El truco viral para…"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7548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800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53035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firmadas por un periodista, según los datos estructurados de la nota.</a:t>
            </a:r>
            <a:endParaRPr lang="en-US" sz="1400" dirty="0"/>
          </a:p>
        </p:txBody>
      </p:sp>
      <p:sp>
        <p:nvSpPr>
          <p:cNvPr id="18" name="ejemplo-2"/>
          <p:cNvSpPr/>
          <p:nvPr/>
        </p:nvSpPr>
        <p:spPr>
          <a:xfrm>
            <a:off x="4937760" y="4754880"/>
            <a:ext cx="6702552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212080" y="489204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"Redacción" o el nombre del medio no cuentan como firma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CEBO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A24 y El Destape usan recursos de cebo en casi 1 de cada 5 títulos</a:t>
            </a:r>
            <a:endParaRPr lang="en-US" sz="3200" dirty="0"/>
          </a:p>
        </p:txBody>
      </p:sp>
      <p:graphicFrame>
        <p:nvGraphicFramePr>
          <p:cNvPr id="5" name="grafico" descr=""/>
          <p:cNvGraphicFramePr/>
          <p:nvPr/>
        </p:nvGraphicFramePr>
        <p:xfrm>
          <a:off x="457200" y="1874520"/>
          <a:ext cx="71323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extremo"/>
          <p:cNvSpPr/>
          <p:nvPr/>
        </p:nvSpPr>
        <p:spPr>
          <a:xfrm>
            <a:off x="8046720" y="2011680"/>
            <a:ext cx="3593592" cy="3931920"/>
          </a:xfrm>
          <a:prstGeom prst="roundRect">
            <a:avLst>
              <a:gd name="adj" fmla="val 2036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321040" y="2240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otro extremo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321040" y="27889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Perfil: 1,6%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Chubut: 1,8%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Rosario Nuestro: 2,4%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Capital: 2,7%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321040" y="48463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Porcentaje de títulos con al menos un recurso de cebo; medios con 40 notas o más.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SENSACIONALISMO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mapa: quién exagera y quién busca el clic</a:t>
            </a:r>
            <a:endParaRPr lang="en-US" sz="3200" dirty="0"/>
          </a:p>
        </p:txBody>
      </p:sp>
      <p:pic>
        <p:nvPicPr>
          <p:cNvPr id="5" name="mapa" descr="C:\Users\SBI\Documents\Martin Ceriotti Personales\Master Data Science\webmining\Web-Mining\docs\_fuentes\img\mapa-sensacionalis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8229600" cy="3684181"/>
          </a:xfrm>
          <a:prstGeom prst="rect">
            <a:avLst/>
          </a:prstGeom>
        </p:spPr>
      </p:pic>
      <p:sp>
        <p:nvSpPr>
          <p:cNvPr id="6" name="lectura"/>
          <p:cNvSpPr/>
          <p:nvPr/>
        </p:nvSpPr>
        <p:spPr>
          <a:xfrm>
            <a:off x="9052560" y="1920240"/>
            <a:ext cx="2587752" cy="3657600"/>
          </a:xfrm>
          <a:prstGeom prst="roundRect">
            <a:avLst>
              <a:gd name="adj" fmla="val 2827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281160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leerlo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9281160" y="2651760"/>
            <a:ext cx="2194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Arriba a la derecha: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 con cebo que además exageran.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Abajo a la izquierda: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 sobrios y fieles a su bajada.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TONO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Diario Chaco, 1 de cada 2 notas es negativa; en El Chubut, 1 de cada 5</a:t>
            </a:r>
            <a:endParaRPr lang="en-US" sz="3200" dirty="0"/>
          </a:p>
        </p:txBody>
      </p:sp>
      <p:graphicFrame>
        <p:nvGraphicFramePr>
          <p:cNvPr id="5" name="grafico" descr=""/>
          <p:cNvGraphicFramePr/>
          <p:nvPr/>
        </p:nvGraphicFramePr>
        <p:xfrm>
          <a:off x="457200" y="1874520"/>
          <a:ext cx="73152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ono-total"/>
          <p:cNvSpPr/>
          <p:nvPr/>
        </p:nvSpPr>
        <p:spPr>
          <a:xfrm>
            <a:off x="8229600" y="2011680"/>
            <a:ext cx="3410712" cy="3931920"/>
          </a:xfrm>
          <a:prstGeom prst="roundRect">
            <a:avLst>
              <a:gd name="adj" fmla="val 2145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03920" y="2240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toda la base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503920" y="27889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39%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10012680" y="2971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Negativo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74904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10012680" y="3931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503920" y="47091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D8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13%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10012680" y="48920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TRANSPARENCIA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firma el 92% de sus notas; Radio Mitre y Rosario3, ninguna</a:t>
            </a:r>
            <a:endParaRPr lang="en-US" sz="3200" dirty="0"/>
          </a:p>
        </p:txBody>
      </p:sp>
      <p:graphicFrame>
        <p:nvGraphicFramePr>
          <p:cNvPr id="5" name="grafico" descr=""/>
          <p:cNvGraphicFramePr/>
          <p:nvPr/>
        </p:nvGraphicFramePr>
        <p:xfrm>
          <a:off x="457200" y="1874520"/>
          <a:ext cx="71323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in-firma"/>
          <p:cNvSpPr/>
          <p:nvPr/>
        </p:nvSpPr>
        <p:spPr>
          <a:xfrm>
            <a:off x="8046720" y="2011680"/>
            <a:ext cx="3593592" cy="3931920"/>
          </a:xfrm>
          <a:prstGeom prst="roundRect">
            <a:avLst>
              <a:gd name="adj" fmla="val 2036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321040" y="2240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ninguna nota firmada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321040" y="2788920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Elonce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Capital (Mar del Plata)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Continental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Mitre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Rosario Nuestro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Rosario3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ENCUADRE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noticia, muchos encuadres</a:t>
            </a:r>
            <a:endParaRPr lang="en-US" sz="3200" dirty="0"/>
          </a:p>
        </p:txBody>
      </p:sp>
      <p:pic>
        <p:nvPicPr>
          <p:cNvPr id="5" name="encuadre" descr="C:\Users\SBI\Documents\Martin Ceriotti Personales\Master Data Science\webmining\Web-Mining\docs\_fuentes\img\encuad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949440" cy="4528849"/>
          </a:xfrm>
          <a:prstGeom prst="rect">
            <a:avLst/>
          </a:prstGeom>
        </p:spPr>
      </p:pic>
      <p:sp>
        <p:nvSpPr>
          <p:cNvPr id="6" name="primicia"/>
          <p:cNvSpPr/>
          <p:nvPr/>
        </p:nvSpPr>
        <p:spPr>
          <a:xfrm>
            <a:off x="7863840" y="1874520"/>
            <a:ext cx="3776472" cy="4160520"/>
          </a:xfrm>
          <a:prstGeom prst="roundRect">
            <a:avLst>
              <a:gd name="adj" fmla="val 1937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138160" y="21031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llega primero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138160" y="2606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que más veces publicó primero una historia que después cubrieron otros: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138160" y="34747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Eldoce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8138160" y="43434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tarjeta muestra el tono del título, sus recursos de cebo y los minutos de demora respecto del primero.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TONO POR FIGURA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trata cada medio a cada figura</a:t>
            </a:r>
            <a:endParaRPr lang="en-US" sz="3200" dirty="0"/>
          </a:p>
        </p:txBody>
      </p:sp>
      <p:pic>
        <p:nvPicPr>
          <p:cNvPr id="5" name="figuras" descr="C:\Users\SBI\Documents\Martin Ceriotti Personales\Master Data Science\webmining\Web-Mining\docs\_fuentes\img\figur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8412480" cy="2315795"/>
          </a:xfrm>
          <a:prstGeom prst="rect">
            <a:avLst/>
          </a:prstGeom>
        </p:spPr>
      </p:pic>
      <p:sp>
        <p:nvSpPr>
          <p:cNvPr id="6" name="figuras-lectura"/>
          <p:cNvSpPr/>
          <p:nvPr/>
        </p:nvSpPr>
        <p:spPr>
          <a:xfrm>
            <a:off x="9235440" y="1874520"/>
            <a:ext cx="2404872" cy="3566160"/>
          </a:xfrm>
          <a:prstGeom prst="roundRect">
            <a:avLst>
              <a:gd name="adj" fmla="val 3042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464040" y="2103120"/>
            <a:ext cx="2011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negativo que el promedio de los medios con esa figura.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D8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negativo.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paréntesis, la cantidad de notas.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MINERÍA DE ESTRUCTURA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mapa de medios: quién comparte agenda con quién</a:t>
            </a:r>
            <a:endParaRPr lang="en-US" sz="3200" dirty="0"/>
          </a:p>
        </p:txBody>
      </p:sp>
      <p:pic>
        <p:nvPicPr>
          <p:cNvPr id="5" name="grafo" descr="C:\Users\SBI\Documents\Martin Ceriotti Personales\Master Data Science\webmining\Web-Mining\docs\_fuentes\img\graf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6675120" cy="4087573"/>
          </a:xfrm>
          <a:prstGeom prst="rect">
            <a:avLst/>
          </a:prstGeom>
        </p:spPr>
      </p:pic>
      <p:sp>
        <p:nvSpPr>
          <p:cNvPr id="6" name="grafo-lectura"/>
          <p:cNvSpPr/>
          <p:nvPr/>
        </p:nvSpPr>
        <p:spPr>
          <a:xfrm>
            <a:off x="7589520" y="1874520"/>
            <a:ext cx="4050792" cy="4160520"/>
          </a:xfrm>
          <a:prstGeom prst="roundRect">
            <a:avLst>
              <a:gd name="adj" fmla="val 1806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863840" y="21031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arma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863840" y="2651760"/>
            <a:ext cx="3611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Nodos: medios; tamaño según historias compartidas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Aristas: cubren las mismas historias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Colores: comunidades detectadas por propagación de etiquetas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Disposición por fuerzas, animada en el tablero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TABLERO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esto, en un tablero público que se actualiza solo</a:t>
            </a:r>
            <a:endParaRPr lang="en-US" sz="3200" dirty="0"/>
          </a:p>
        </p:txBody>
      </p:sp>
      <p:pic>
        <p:nvPicPr>
          <p:cNvPr id="5" name="captura" descr="C:\Users\SBI\Documents\Martin Ceriotti Personales\Master Data Science\webmining\Web-Mining\docs\_fuentes\img\tablero-resu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583680" cy="4114800"/>
          </a:xfrm>
          <a:prstGeom prst="rect">
            <a:avLst/>
          </a:prstGeom>
        </p:spPr>
      </p:pic>
      <p:sp>
        <p:nvSpPr>
          <p:cNvPr id="6" name="marco"/>
          <p:cNvSpPr/>
          <p:nvPr/>
        </p:nvSpPr>
        <p:spPr>
          <a:xfrm>
            <a:off x="548640" y="1874520"/>
            <a:ext cx="6583680" cy="4114800"/>
          </a:xfrm>
          <a:prstGeom prst="rect">
            <a:avLst/>
          </a:prstGeom>
          <a:ln w="12700">
            <a:solidFill>
              <a:srgbClr val="D9D9D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498080" y="192024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termómetro, resumen del día y noticias compartidas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7498080" y="2505456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 por texto o por significado y notas parecidas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498080" y="309067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figuras nuevas (NER) y seguimiento de una persona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498080" y="367588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filtros, agenda, encuadre y mapa de medios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498080" y="426110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titulan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mapa, rankings y ejemplos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498080" y="484632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 de datos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y scraping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DEMO EN VIVO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base se consulta con SQL desde el navegador</a:t>
            </a:r>
            <a:endParaRPr lang="en-US" sz="3200" dirty="0"/>
          </a:p>
        </p:txBody>
      </p:sp>
      <p:sp>
        <p:nvSpPr>
          <p:cNvPr id="5" name="sql"/>
          <p:cNvSpPr/>
          <p:nvPr/>
        </p:nvSpPr>
        <p:spPr>
          <a:xfrm>
            <a:off x="548640" y="2011680"/>
            <a:ext cx="6400800" cy="3931920"/>
          </a:xfrm>
          <a:prstGeom prst="roundRect">
            <a:avLst>
              <a:gd name="adj" fmla="val 186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331720"/>
            <a:ext cx="5852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medio,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ROUND(100*AVG(cebo&gt;=1), 1) AS cebo,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ROUND(100*AVG(tono_auto='n'), 1) AS neg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items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medio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 COUNT(*) &gt;= 50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cebo DESC;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406640" y="20574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el tablero (QR al final)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31089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Tocar "Explorar la base (SQL)"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406640" y="3886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4023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la tabla items o escribir una consulta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0" y="48006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4937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 la base o el CSV si se quiere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HERRAMIENTAS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stack simple, gratuito y reproducible</a:t>
            </a:r>
            <a:endParaRPr lang="en-US" sz="3200" dirty="0"/>
          </a:p>
        </p:txBody>
      </p:sp>
      <p:sp>
        <p:nvSpPr>
          <p:cNvPr id="5" name="stack-0"/>
          <p:cNvSpPr/>
          <p:nvPr/>
        </p:nvSpPr>
        <p:spPr>
          <a:xfrm>
            <a:off x="548640" y="201168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Recolección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420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· feedparser · googlenewsdecoder · urllib.robotparser</a:t>
            </a:r>
            <a:endParaRPr lang="en-US" sz="1500" dirty="0"/>
          </a:p>
        </p:txBody>
      </p:sp>
      <p:sp>
        <p:nvSpPr>
          <p:cNvPr id="8" name="stack-1"/>
          <p:cNvSpPr/>
          <p:nvPr/>
        </p:nvSpPr>
        <p:spPr>
          <a:xfrm>
            <a:off x="6217920" y="201168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5420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expresiones regulares · JSON-LD (schema.org) · HTML</a:t>
            </a:r>
            <a:endParaRPr lang="en-US" sz="1500" dirty="0"/>
          </a:p>
        </p:txBody>
      </p:sp>
      <p:sp>
        <p:nvSpPr>
          <p:cNvPr id="11" name="stack-2"/>
          <p:cNvSpPr/>
          <p:nvPr/>
        </p:nvSpPr>
        <p:spPr>
          <a:xfrm>
            <a:off x="548640" y="333756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474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8679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de palabras · Naive Bayes · regresión logística · XLM-RoBERTa · MiniLM · spaCy (NER)</a:t>
            </a:r>
            <a:endParaRPr lang="en-US" sz="1500" dirty="0"/>
          </a:p>
        </p:txBody>
      </p:sp>
      <p:sp>
        <p:nvSpPr>
          <p:cNvPr id="14" name="stack-3"/>
          <p:cNvSpPr/>
          <p:nvPr/>
        </p:nvSpPr>
        <p:spPr>
          <a:xfrm>
            <a:off x="6217920" y="333756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92240" y="3474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38679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· CSV · Datasette Lite · notebook con pandas</a:t>
            </a:r>
            <a:endParaRPr lang="en-US" sz="1500" dirty="0"/>
          </a:p>
        </p:txBody>
      </p:sp>
      <p:sp>
        <p:nvSpPr>
          <p:cNvPr id="17" name="stack-4"/>
          <p:cNvSpPr/>
          <p:nvPr/>
        </p:nvSpPr>
        <p:spPr>
          <a:xfrm>
            <a:off x="548640" y="466344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800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1937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(cada 30 min, autodisparo) · pruebas automáticas</a:t>
            </a:r>
            <a:endParaRPr lang="en-US" sz="1500" dirty="0"/>
          </a:p>
        </p:txBody>
      </p:sp>
      <p:sp>
        <p:nvSpPr>
          <p:cNvPr id="20" name="stack-5"/>
          <p:cNvSpPr/>
          <p:nvPr/>
        </p:nvSpPr>
        <p:spPr>
          <a:xfrm>
            <a:off x="6217920" y="466344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92240" y="4800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492240" y="51937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 y JavaScript sin frameworks · GitHub Pages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LO QUE SIGUE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Limitaciones honestas y próximos pasos</a:t>
            </a:r>
            <a:endParaRPr lang="en-US" sz="3200" dirty="0"/>
          </a:p>
        </p:txBody>
      </p:sp>
      <p:sp>
        <p:nvSpPr>
          <p:cNvPr id="5" name="cierre-0"/>
          <p:cNvSpPr/>
          <p:nvPr/>
        </p:nvSpPr>
        <p:spPr>
          <a:xfrm>
            <a:off x="548640" y="201168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2286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297180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Tono del título y la bajada, no de la nota completa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de acierto con 340 etiquetas de un solo criterio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Pocos días de histórico: los rankings se estabilizan con semanas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 y entidades por diccionario requieren mantenimiento</a:t>
            </a:r>
            <a:endParaRPr lang="en-US" sz="1600" dirty="0"/>
          </a:p>
        </p:txBody>
      </p:sp>
      <p:sp>
        <p:nvSpPr>
          <p:cNvPr id="9" name="cierre-1"/>
          <p:cNvSpPr/>
          <p:nvPr/>
        </p:nvSpPr>
        <p:spPr>
          <a:xfrm>
            <a:off x="6217920" y="201168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F2F2F0"/>
          </a:solidFill>
          <a:ln w="12700">
            <a:solidFill>
              <a:srgbClr val="F2F2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28600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132320" y="2286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6537960" y="297180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rondas de aprendizaje activo y medir la mejora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de las comunidades a lo largo de las semanas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más días: ¿el tono acompaña al dólar?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etiquetas manuales, con varios anotadores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PROBALO AHORA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Escaneá el código para abrir el tablero y consultar la base con SQL</a:t>
            </a:r>
            <a:endParaRPr lang="en-US" sz="2000" dirty="0"/>
          </a:p>
        </p:txBody>
      </p:sp>
      <p:pic>
        <p:nvPicPr>
          <p:cNvPr id="5" name="qr" descr="C:\Users\SBI\Documents\Martin Ceriotti Personales\Master Data Science\webmining\Web-Mining\docs\_fuentes\img\qr-tabl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463040"/>
            <a:ext cx="2743200" cy="2743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86384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miguegarrone-blip.github.io/Web-Mining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Código: github.com/miguegarrone-blip/Web-Mining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ario">
  <a:themeElements>
    <a:clrScheme name="Diario">
      <a:dk1>
        <a:srgbClr val="1A1A1A"/>
      </a:dk1>
      <a:lt1>
        <a:srgbClr val="FFFFFF"/>
      </a:lt1>
      <a:dk2>
        <a:srgbClr val="2B2B2B"/>
      </a:dk2>
      <a:lt2>
        <a:srgbClr val="F2F2F0"/>
      </a:lt2>
      <a:accent1>
        <a:srgbClr val="C8102E"/>
      </a:accent1>
      <a:accent2>
        <a:srgbClr val="1F5F8B"/>
      </a:accent2>
      <a:accent3>
        <a:srgbClr val="6B6B6B"/>
      </a:accent3>
      <a:accent4>
        <a:srgbClr val="3D8A5A"/>
      </a:accent4>
      <a:accent5>
        <a:srgbClr val="B5483A"/>
      </a:accent5>
      <a:accent6>
        <a:srgbClr val="E0A100"/>
      </a:accent6>
      <a:hlink>
        <a:srgbClr val="1F5F8B"/>
      </a:hlink>
      <a:folHlink>
        <a:srgbClr val="6D2E46"/>
      </a:folHlink>
    </a:clrScheme>
    <a:fontScheme name="Diari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Monitor de medios argentinos</dc:title>
  <dc:subject>PptxGenJS Presentation</dc:subject>
  <dc:creator>PptxGenJS</dc:creator>
  <cp:lastModifiedBy>PptxGenJS</cp:lastModifiedBy>
  <cp:revision>1</cp:revision>
  <dcterms:created xsi:type="dcterms:W3CDTF">2026-10-25T15:15:29Z</dcterms:created>
  <dcterms:modified xsi:type="dcterms:W3CDTF">2026-10-25T15:15:29Z</dcterms:modified>
</cp:coreProperties>
</file>