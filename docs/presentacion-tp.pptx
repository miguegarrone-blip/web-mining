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26c59d3-a0e3-68a9-c0a5-411f9eba2cd4}">
          <p14:sldIdLst>
            <p14:sldId id="256"/>
          </p14:sldIdLst>
        </p14:section>
        <p14:section name="Problema" id="{6168e92f-fc51-a612-c1d5-8aba9ebc36d0}">
          <p14:sldIdLst>
            <p14:sldId id="257"/>
            <p14:sldId id="258"/>
          </p14:sldIdLst>
        </p14:section>
        <p14:section name="Cómo funciona" id="{0062b621-6735-c912-8ae6-ca99e2f2f8f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Qué encontramos" id="{9a736f25-c470-c80d-d756-7a02cbbbbe97}">
          <p14:sldIdLst>
            <p14:sldId id="266"/>
            <p14:sldId id="267"/>
            <p14:sldId id="268"/>
            <p14:sldId id="269"/>
            <p14:sldId id="270"/>
          </p14:sldIdLst>
        </p14:section>
        <p14:section name="Cierre" id="{afc8cb1c-4fb5-4122-d94f-5f9f87569295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medios</c:v>
                </c:pt>
              </c:strCache>
            </c:strRef>
          </c:tx>
          <c:spPr>
            <a:solidFill>
              <a:srgbClr val="1F5F8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pysentimiento solo</c:v>
                  </c:pt>
                  <c:pt idx="1">
                    <c:v>Modelo inicial (palabras)</c:v>
                  </c:pt>
                  <c:pt idx="2">
                    <c:v>Solo probas BERT</c:v>
                  </c:pt>
                  <c:pt idx="3">
                    <c:v>Embeddings + reg. logística</c:v>
                  </c:pt>
                  <c:pt idx="4">
                    <c:v>XLM-RoBERTa solo</c:v>
                  </c:pt>
                  <c:pt idx="5">
                    <c:v>Palabras + pysentimiento</c:v>
                  </c:pt>
                  <c:pt idx="6">
                    <c:v>Palabras + ambos BERT</c:v>
                  </c:pt>
                  <c:pt idx="7">
                    <c:v>Palabras + XLM-RoBERTa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64.4</c:v>
                </c:pt>
                <c:pt idx="1">
                  <c:v>70.3</c:v>
                </c:pt>
                <c:pt idx="2">
                  <c:v>72.4</c:v>
                </c:pt>
                <c:pt idx="3">
                  <c:v>72.4</c:v>
                </c:pt>
                <c:pt idx="4">
                  <c:v>74.1</c:v>
                </c:pt>
                <c:pt idx="5">
                  <c:v>75</c:v>
                </c:pt>
                <c:pt idx="6">
                  <c:v>75.3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destacado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pysentimiento solo</c:v>
                  </c:pt>
                  <c:pt idx="1">
                    <c:v>Modelo inicial (palabras)</c:v>
                  </c:pt>
                  <c:pt idx="2">
                    <c:v>Solo probas BERT</c:v>
                  </c:pt>
                  <c:pt idx="3">
                    <c:v>Embeddings + reg. logística</c:v>
                  </c:pt>
                  <c:pt idx="4">
                    <c:v>XLM-RoBERTa solo</c:v>
                  </c:pt>
                  <c:pt idx="5">
                    <c:v>Palabras + pysentimiento</c:v>
                  </c:pt>
                  <c:pt idx="6">
                    <c:v>Palabras + ambos BERT</c:v>
                  </c:pt>
                  <c:pt idx="7">
                    <c:v>Palabras + XLM-RoBERTa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76.8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.6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medios</c:v>
                </c:pt>
              </c:strCache>
            </c:strRef>
          </c:tx>
          <c:spPr>
            <a:solidFill>
              <a:srgbClr val="1F5F8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 Nación</c:v>
                  </c:pt>
                  <c:pt idx="1">
                    <c:v>Canal 26</c:v>
                  </c:pt>
                  <c:pt idx="2">
                    <c:v>La Gaceta</c:v>
                  </c:pt>
                  <c:pt idx="3">
                    <c:v>TN</c:v>
                  </c:pt>
                  <c:pt idx="4">
                    <c:v>C5N</c:v>
                  </c:pt>
                  <c:pt idx="5">
                    <c:v>Radio Mitre</c:v>
                  </c:pt>
                  <c:pt idx="6">
                    <c:v>Eldoce</c:v>
                  </c:pt>
                  <c:pt idx="7">
                    <c:v>El Destape</c:v>
                  </c:pt>
                  <c:pt idx="8">
                    <c:v>El Trece</c:v>
                  </c:pt>
                  <c:pt idx="9">
                    <c:v>A24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12.9</c:v>
                </c:pt>
                <c:pt idx="1">
                  <c:v>13.4</c:v>
                </c:pt>
                <c:pt idx="2">
                  <c:v>14.3</c:v>
                </c:pt>
                <c:pt idx="3">
                  <c:v>16</c:v>
                </c:pt>
                <c:pt idx="4">
                  <c:v>16.9</c:v>
                </c:pt>
                <c:pt idx="5">
                  <c:v>17.4</c:v>
                </c:pt>
                <c:pt idx="6">
                  <c:v>17.8</c:v>
                </c:pt>
                <c:pt idx="7">
                  <c:v>17.8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destacado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 Nación</c:v>
                  </c:pt>
                  <c:pt idx="1">
                    <c:v>Canal 26</c:v>
                  </c:pt>
                  <c:pt idx="2">
                    <c:v>La Gaceta</c:v>
                  </c:pt>
                  <c:pt idx="3">
                    <c:v>TN</c:v>
                  </c:pt>
                  <c:pt idx="4">
                    <c:v>C5N</c:v>
                  </c:pt>
                  <c:pt idx="5">
                    <c:v>Radio Mitre</c:v>
                  </c:pt>
                  <c:pt idx="6">
                    <c:v>Eldoce</c:v>
                  </c:pt>
                  <c:pt idx="7">
                    <c:v>El Destape</c:v>
                  </c:pt>
                  <c:pt idx="8">
                    <c:v>El Trece</c:v>
                  </c:pt>
                  <c:pt idx="9">
                    <c:v>A24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20.9</c:v>
                </c:pt>
                <c:pt idx="9">
                  <c:v>22.6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.73000000000000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medios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El Chubut</c:v>
                  </c:pt>
                  <c:pt idx="1">
                    <c:v>Uno Santa Fe</c:v>
                  </c:pt>
                  <c:pt idx="2">
                    <c:v>TN</c:v>
                  </c:pt>
                  <c:pt idx="3">
                    <c:v>Elonce</c:v>
                  </c:pt>
                  <c:pt idx="4">
                    <c:v>La Gaceta</c:v>
                  </c:pt>
                  <c:pt idx="5">
                    <c:v>Aire de Santa Fe</c:v>
                  </c:pt>
                  <c:pt idx="6">
                    <c:v>Misiones Online</c:v>
                  </c:pt>
                  <c:pt idx="7">
                    <c:v>La Voz</c:v>
                  </c:pt>
                  <c:pt idx="8">
                    <c:v>Eldoce</c:v>
                  </c:pt>
                  <c:pt idx="9">
                    <c:v>Diario Chaco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20.2</c:v>
                </c:pt>
                <c:pt idx="1">
                  <c:v>23.1</c:v>
                </c:pt>
                <c:pt idx="2">
                  <c:v>26</c:v>
                </c:pt>
                <c:pt idx="3">
                  <c:v>29.4</c:v>
                </c:pt>
                <c:pt idx="4">
                  <c:v>31.1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destacado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El Chubut</c:v>
                  </c:pt>
                  <c:pt idx="1">
                    <c:v>Uno Santa Fe</c:v>
                  </c:pt>
                  <c:pt idx="2">
                    <c:v>TN</c:v>
                  </c:pt>
                  <c:pt idx="3">
                    <c:v>Elonce</c:v>
                  </c:pt>
                  <c:pt idx="4">
                    <c:v>La Gaceta</c:v>
                  </c:pt>
                  <c:pt idx="5">
                    <c:v>Aire de Santa Fe</c:v>
                  </c:pt>
                  <c:pt idx="6">
                    <c:v>Misiones Online</c:v>
                  </c:pt>
                  <c:pt idx="7">
                    <c:v>La Voz</c:v>
                  </c:pt>
                  <c:pt idx="8">
                    <c:v>Eldoce</c:v>
                  </c:pt>
                  <c:pt idx="9">
                    <c:v>Diario Chaco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47.7</c:v>
                </c:pt>
                <c:pt idx="6">
                  <c:v>48.9</c:v>
                </c:pt>
                <c:pt idx="7">
                  <c:v>50</c:v>
                </c:pt>
                <c:pt idx="8">
                  <c:v>50.8</c:v>
                </c:pt>
                <c:pt idx="9">
                  <c:v>52.6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.23000000000000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medios</c:v>
                </c:pt>
              </c:strCache>
            </c:strRef>
          </c:tx>
          <c:spPr>
            <a:solidFill>
              <a:srgbClr val="1F5F8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Canal 26</c:v>
                  </c:pt>
                  <c:pt idx="1">
                    <c:v>Infobae</c:v>
                  </c:pt>
                  <c:pt idx="2">
                    <c:v>Los Andes</c:v>
                  </c:pt>
                  <c:pt idx="3">
                    <c:v>Página/12</c:v>
                  </c:pt>
                  <c:pt idx="4">
                    <c:v>TN</c:v>
                  </c:pt>
                  <c:pt idx="5">
                    <c:v>El Cronista</c:v>
                  </c:pt>
                  <c:pt idx="6">
                    <c:v>Eldoce</c:v>
                  </c:pt>
                  <c:pt idx="7">
                    <c:v>Misiones Online</c:v>
                  </c:pt>
                  <c:pt idx="8">
                    <c:v>Perfil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38.6</c:v>
                </c:pt>
                <c:pt idx="1">
                  <c:v>43.1</c:v>
                </c:pt>
                <c:pt idx="2">
                  <c:v>45.3</c:v>
                </c:pt>
                <c:pt idx="3">
                  <c:v>47.2</c:v>
                </c:pt>
                <c:pt idx="4">
                  <c:v>60.3</c:v>
                </c:pt>
                <c:pt idx="5">
                  <c:v>65.7</c:v>
                </c:pt>
                <c:pt idx="6">
                  <c:v>65.8</c:v>
                </c:pt>
                <c:pt idx="7">
                  <c:v>74.1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destacado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Canal 26</c:v>
                  </c:pt>
                  <c:pt idx="1">
                    <c:v>Infobae</c:v>
                  </c:pt>
                  <c:pt idx="2">
                    <c:v>Los Andes</c:v>
                  </c:pt>
                  <c:pt idx="3">
                    <c:v>Página/12</c:v>
                  </c:pt>
                  <c:pt idx="4">
                    <c:v>TN</c:v>
                  </c:pt>
                  <c:pt idx="5">
                    <c:v>El Cronista</c:v>
                  </c:pt>
                  <c:pt idx="6">
                    <c:v>Eldoce</c:v>
                  </c:pt>
                  <c:pt idx="7">
                    <c:v>Misiones Online</c:v>
                  </c:pt>
                  <c:pt idx="8">
                    <c:v>Perfil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91.4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.9700000000000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Presentación. La pregunta del título es el hilo: cada día los medios cuentan los mismos hechos con énfasis distintos, y queremos medirlo de forma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puede leer 3.000 titulares por hora. Las preguntas interesantes no están en una nota sino en el conjunto. Estas cinco preguntas guían todo 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números para fijar la escala. Todo corre en GitHub Actions sin intervención; el tablero y la base son públicos.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de izquierda a derecha. Remarcar que el paso 3, entrar a cada nota, es lo que convierte esto en web mining real y no solo lectura de RSS.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APIs de noticias limitan pedidos y no cubren medios regionales. Un trabajo de 2025 terminó en NewsAPI. Nosotros combinamos RSS propio con Google News por sitio. El problema de Google News: da una URL de redirección y ninguna bajada; lo resolvemos en la etapa de scraping.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Distinción de clase: páginas de listado y de detalle. Los feeds son listados; cada nota es una página de detalle. Decodificamos el enlace de Google News, bajamos el HTML y leemos dos cosas: la meta og:description (la bajada) y el bloque JSON-LD NewsArticle que los diarios incrustan para Google. 41 de 44 medios lo publican.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Ninguno de los trabajos de 2025 trató este punto. Respetamos robots.txt (0 bloqueos en miles de pedidos), nos identificamos, limitamos la carga y no guardamos el texto completo de las notas: solo título, bajada y metadatos, siempre enlazando al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scrapers es costoso porque la web es dinámica (lo vimos en clase). Registramos salud por fuente, resultado del scraping y notas descartadas, y eso nos permitió detectar estos problemas reales. Cada corrección también limpia lo ya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Bolsa de palabras y modelo vectorial como base. Temas: reglas sobre título y bajada más un Naive Bayes con supervisión débil, que aprende de lo que las reglas clasificaron y solo asigna tema si está seguro. Entidades: diccionario con alias. Tono: lo vemos en la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8 enfoques sobre 340 titulares etiquetados a mano, con validación cruzada de 5 pliegues. Un BERT entrenado con tuits (pysentimiento) rinde peor que el modelo simple: mide la emoción de quien escribe, no si el hecho es bueno o malo. La combinación de rasgos propios con XLM-RoBERTa gana, y sobre todo detecta muchas más noticias negativas.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Exageración: comparamos el tono del título con el de la bajada, que es el resumen escrito por el propio medio. Cebo: rasgos de clickbait. Transparencia: notas firmadas por una persona según el JSON-LD.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Porcentaje de títulos con al menos un recurso de cebo. En el otro extremo, La Capital, Perfil y El Chubut están por debajo del 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punto es un medio. Eje horizontal: cebo. Eje vertical: exageración respecto de la propia bajada. Las líneas son las medianas y dividen en cuatro estilos. A24, El Trece, Radio Mitre y TN quedan como sensacionalistas; Elonce y El Chubut como sobrios. Es una medición automática con error conocido: comparar medios, no juzgar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Proporción de notas con tono negativo según el modelo combinado, medios con 60 notas o más. Muestra los 5 más negativos y los 5 menos negativos. El tono mide el hecho, no la postura del medio: un medio con más policiales tiene más negativas.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Proporción de notas firmadas por una persona, según el autor declarado en el JSON-LD de cada nota. Medios con 40 notas o más con datos estructurados.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tablero en vivo. Recorrer Resumen, Titulares (con buscador), Monitor (seguir una persona), Cómo titulan y Salud de datos. Es una página estática en GitHub Pages: funciona también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tablero, tocar Explorar la base (SQL). Datasette Lite corre SQLite en el navegador con WebAssembly: no hay que instalar nada. Correr esta consulta y después una propuesta por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servidores ni costos: todo corre en GitHub. SQLite simplifica la operación y se puede abrir en el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claros con los límites: el tono es del título, 77% de acierto, 340 etiquetas de un criterio. El histórico es corto. Próximos pasos: NER con spaCy, sesgo de agenda, mapa de medios como grafo, primicia, resumen diario.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invitación a probarlo en vivo.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10058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Monitor de medios argentinos · Web Mining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WEB MINING · MAESTRÍA EN CIENCIA DE DATOS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nos cuentan las noticias?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 monitor automático de 46 medios argentinos: agenda, tono y estilo de titulación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[completar]   ·  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día, contado de 46 maneras distintas</a:t>
            </a:r>
            <a:endParaRPr lang="en-US" sz="3200" dirty="0"/>
          </a:p>
        </p:txBody>
      </p:sp>
      <p:sp>
        <p:nvSpPr>
          <p:cNvPr id="5" name="pregunta-0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202082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se habla hoy y qué crece respecto de lo habitual?</a:t>
            </a:r>
            <a:endParaRPr lang="en-US" sz="1700" dirty="0"/>
          </a:p>
        </p:txBody>
      </p:sp>
      <p:sp>
        <p:nvSpPr>
          <p:cNvPr id="8" name="pregunta-1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779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28254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medios cubren un tema o una persona, y con qué tono?</a:t>
            </a:r>
            <a:endParaRPr lang="en-US" sz="1700" dirty="0"/>
          </a:p>
        </p:txBody>
      </p:sp>
      <p:sp>
        <p:nvSpPr>
          <p:cNvPr id="11" name="pregunta-2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1246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36301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noticias cubre todo el ecosistema y cuáles son exclusivas?</a:t>
            </a:r>
            <a:endParaRPr lang="en-US" sz="1700" dirty="0"/>
          </a:p>
        </p:txBody>
      </p:sp>
      <p:sp>
        <p:nvSpPr>
          <p:cNvPr id="14" name="pregunta-3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1713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0160" y="4434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titula de forma más alarmista o con más clickbait?</a:t>
            </a:r>
            <a:endParaRPr lang="en-US" sz="1700" dirty="0"/>
          </a:p>
        </p:txBody>
      </p:sp>
      <p:sp>
        <p:nvSpPr>
          <p:cNvPr id="17" name="pregunta-4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2180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80160" y="52395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contenido está firmado y cuánto sale como "Redacción"?</a:t>
            </a:r>
            <a:endParaRPr lang="en-US" sz="1700" dirty="0"/>
          </a:p>
        </p:txBody>
      </p:sp>
      <p:sp>
        <p:nvSpPr>
          <p:cNvPr id="20" name="dato"/>
          <p:cNvSpPr/>
          <p:nvPr/>
        </p:nvSpPr>
        <p:spPr>
          <a:xfrm>
            <a:off x="7680960" y="1965960"/>
            <a:ext cx="3959352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800100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≈3.000</a:t>
            </a:r>
            <a:endParaRPr lang="en-US" sz="6600" dirty="0"/>
          </a:p>
        </p:txBody>
      </p:sp>
      <p:sp>
        <p:nvSpPr>
          <p:cNvPr id="22" name="Text 14"/>
          <p:cNvSpPr txBox="1"/>
          <p:nvPr/>
        </p:nvSpPr>
        <p:spPr>
          <a:xfrm>
            <a:off x="800100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 por corrida, de 46 medios, cada hora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8001000" y="4389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Leerlos a mano es inviable: hay que extraerlos, estructurarlos y medirlos de forma automática.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monitor que corre solo, cada hora, y publica todo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medios: diarios, portales, TV, radios y fuentes oficiales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4.386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en la base, con tema, tono, entidades y estilo de título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194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154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cada hora; tablero y base SQL publicados en GitHub Pages</a:t>
            </a:r>
            <a:endParaRPr lang="en-US" sz="1500" dirty="0"/>
          </a:p>
        </p:txBody>
      </p:sp>
      <p:sp>
        <p:nvSpPr>
          <p:cNvPr id="11" name="frase"/>
          <p:cNvSpPr/>
          <p:nvPr/>
        </p:nvSpPr>
        <p:spPr>
          <a:xfrm>
            <a:off x="548640" y="466344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mining de punta a punta: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de feeds, scraping de cada nota, procesamiento de lenguaje con BERT, base de datos histórica e indicadores comparables entre medios.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ARQUITECTURA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etapas, de los feeds al tablero</a:t>
            </a:r>
            <a:endParaRPr lang="en-US" sz="3200" dirty="0"/>
          </a:p>
        </p:txBody>
      </p:sp>
      <p:sp>
        <p:nvSpPr>
          <p:cNvPr id="5" name="etapa-0"/>
          <p:cNvSpPr/>
          <p:nvPr/>
        </p:nvSpPr>
        <p:spPr>
          <a:xfrm>
            <a:off x="548640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y Google News de 46 medios, en paralelo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434" y="3364992"/>
            <a:ext cx="219456" cy="219456"/>
          </a:xfrm>
          <a:prstGeom prst="rect">
            <a:avLst/>
          </a:prstGeom>
        </p:spPr>
      </p:pic>
      <p:sp>
        <p:nvSpPr>
          <p:cNvPr id="10" name="etapa-1"/>
          <p:cNvSpPr/>
          <p:nvPr/>
        </p:nvSpPr>
        <p:spPr>
          <a:xfrm>
            <a:off x="2447483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630363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2630363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630363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no-notas, fechas imposibles y duplicados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277" y="3364992"/>
            <a:ext cx="219456" cy="219456"/>
          </a:xfrm>
          <a:prstGeom prst="rect">
            <a:avLst/>
          </a:prstGeom>
        </p:spPr>
      </p:pic>
      <p:sp>
        <p:nvSpPr>
          <p:cNvPr id="15" name="etapa-2"/>
          <p:cNvSpPr/>
          <p:nvPr/>
        </p:nvSpPr>
        <p:spPr>
          <a:xfrm>
            <a:off x="4346326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29206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529206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29206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cada nota: bajada y JSON-LD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20" y="3364992"/>
            <a:ext cx="219456" cy="219456"/>
          </a:xfrm>
          <a:prstGeom prst="rect">
            <a:avLst/>
          </a:prstGeom>
        </p:spPr>
      </p:pic>
      <p:sp>
        <p:nvSpPr>
          <p:cNvPr id="20" name="etapa-3"/>
          <p:cNvSpPr/>
          <p:nvPr/>
        </p:nvSpPr>
        <p:spPr>
          <a:xfrm>
            <a:off x="6245169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28049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6428049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28049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entidades, tono con BERT, cebo</a:t>
            </a:r>
            <a:endParaRPr lang="en-US" sz="13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963" y="3364992"/>
            <a:ext cx="219456" cy="219456"/>
          </a:xfrm>
          <a:prstGeom prst="rect">
            <a:avLst/>
          </a:prstGeom>
        </p:spPr>
      </p:pic>
      <p:sp>
        <p:nvSpPr>
          <p:cNvPr id="25" name="etapa-4"/>
          <p:cNvSpPr/>
          <p:nvPr/>
        </p:nvSpPr>
        <p:spPr>
          <a:xfrm>
            <a:off x="8144012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326892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0"/>
          <p:cNvSpPr txBox="1"/>
          <p:nvPr/>
        </p:nvSpPr>
        <p:spPr>
          <a:xfrm>
            <a:off x="8326892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326892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90 días, CSV exportable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3806" y="3364992"/>
            <a:ext cx="219456" cy="219456"/>
          </a:xfrm>
          <a:prstGeom prst="rect">
            <a:avLst/>
          </a:prstGeom>
        </p:spPr>
      </p:pic>
      <p:sp>
        <p:nvSpPr>
          <p:cNvPr id="30" name="etapa-5"/>
          <p:cNvSpPr/>
          <p:nvPr/>
        </p:nvSpPr>
        <p:spPr>
          <a:xfrm>
            <a:off x="10042855" y="228600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10225735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24"/>
          <p:cNvSpPr txBox="1"/>
          <p:nvPr/>
        </p:nvSpPr>
        <p:spPr>
          <a:xfrm>
            <a:off x="10225735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10225735" y="35204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pestañas + SQL en el navegador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corre el pipeline cada hora, guarda la base en una rama de datos y publica el tablero en GitHub Pages. La primera corrida con BERT tarda 10 minutos; las siguientes,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vías para llegar a 46 medios sin claves ni costo</a:t>
            </a:r>
            <a:endParaRPr lang="en-US" sz="3200" dirty="0"/>
          </a:p>
        </p:txBody>
      </p:sp>
      <p:sp>
        <p:nvSpPr>
          <p:cNvPr id="5" name="fuente-0"/>
          <p:cNvSpPr/>
          <p:nvPr/>
        </p:nvSpPr>
        <p:spPr>
          <a:xfrm>
            <a:off x="548640" y="20116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propio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41148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medios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XML del medio: título, enlace, fecha y bajada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vía más limpia y estable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Clarín, Infobae, La Nación, La Capital, TN…</a:t>
            </a:r>
            <a:endParaRPr lang="en-US" sz="1600" dirty="0"/>
          </a:p>
        </p:txBody>
      </p:sp>
      <p:sp>
        <p:nvSpPr>
          <p:cNvPr id="10" name="fuente-1"/>
          <p:cNvSpPr/>
          <p:nvPr/>
        </p:nvSpPr>
        <p:spPr>
          <a:xfrm>
            <a:off x="6217920" y="20116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860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780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por sitio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97840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medios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site:dominio de las últimas 48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los medios sin RSS útil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devuelve una URL de Google y sin bajada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3.237 de 4.386 notas </a:t>
            </a:r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llegaron por Google News: sin el paso siguiente, solo tendríamos su título.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SCRAPING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Entramos a cada nota para leer lo que el RSS no trae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notas analizadas entrando a su página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92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bajada (el resumen del propio medio)</a:t>
            </a:r>
            <a:endParaRPr lang="en-US" sz="1500" dirty="0"/>
          </a:p>
        </p:txBody>
      </p:sp>
      <p:sp>
        <p:nvSpPr>
          <p:cNvPr id="9" name="jsonld"/>
          <p:cNvSpPr/>
          <p:nvPr/>
        </p:nvSpPr>
        <p:spPr>
          <a:xfrm>
            <a:off x="4206240" y="2103120"/>
            <a:ext cx="7434072" cy="3840480"/>
          </a:xfrm>
          <a:prstGeom prst="roundRect">
            <a:avLst>
              <a:gd name="adj" fmla="val 1905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3317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HTML de cada nota extraemos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9260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real: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decodificando el enlace de Google News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4930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37760" y="3447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Bajada: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og:description o primer párrafo real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05993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937760" y="40142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y firma: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o "Redacción", desde el JSON-LD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62686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937760" y="45811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y palabras clave: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clasifica el propio medio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519379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937760" y="5148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del cuerpo: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palabras de la nota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ÉTICA DESDE EL DISEÑO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crawler "bien educado", como pide la teoría</a:t>
            </a:r>
            <a:endParaRPr lang="en-US" sz="3200" dirty="0"/>
          </a:p>
        </p:txBody>
      </p:sp>
      <p:sp>
        <p:nvSpPr>
          <p:cNvPr id="5" name="regla-0"/>
          <p:cNvSpPr/>
          <p:nvPr/>
        </p:nvSpPr>
        <p:spPr>
          <a:xfrm>
            <a:off x="548640" y="20116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icono-0"/>
          <p:cNvSpPr/>
          <p:nvPr/>
        </p:nvSpPr>
        <p:spPr>
          <a:xfrm>
            <a:off x="822960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743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por dominio antes de pedir una nota. 0 bloqueos en 4.606 pedidos.</a:t>
            </a:r>
            <a:endParaRPr lang="en-US" sz="1500" dirty="0"/>
          </a:p>
        </p:txBody>
      </p:sp>
      <p:sp>
        <p:nvSpPr>
          <p:cNvPr id="10" name="regla-1"/>
          <p:cNvSpPr/>
          <p:nvPr/>
        </p:nvSpPr>
        <p:spPr>
          <a:xfrm>
            <a:off x="6217920" y="20116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1" name="icono-1"/>
          <p:cNvSpPr/>
          <p:nvPr/>
        </p:nvSpPr>
        <p:spPr>
          <a:xfrm>
            <a:off x="6492240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14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5236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identificamos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452360" y="2743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propio que enlaza al proyecto: monitor-de-medios/1.0</a:t>
            </a:r>
            <a:endParaRPr lang="en-US" sz="1500" dirty="0"/>
          </a:p>
        </p:txBody>
      </p:sp>
      <p:sp>
        <p:nvSpPr>
          <p:cNvPr id="15" name="regla-2"/>
          <p:cNvSpPr/>
          <p:nvPr/>
        </p:nvSpPr>
        <p:spPr>
          <a:xfrm>
            <a:off x="548640" y="39319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6" name="icono-2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34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acotada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2 pedidos a la vez por sitio y topes de notas y tiempo por corrida.</a:t>
            </a:r>
            <a:endParaRPr lang="en-US" sz="1500" dirty="0"/>
          </a:p>
        </p:txBody>
      </p:sp>
      <p:sp>
        <p:nvSpPr>
          <p:cNvPr id="20" name="regla-3"/>
          <p:cNvSpPr/>
          <p:nvPr/>
        </p:nvSpPr>
        <p:spPr>
          <a:xfrm>
            <a:off x="6217920" y="39319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1" name="icono-3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348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5236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insistir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745236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con espera creciente; una nota que falla dos veces no se vuelve a pedir.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guardamos el texto completo de las notas: solo título, bajada y metadatos, siempre con enlace al original.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MANTENER UN SCRAPER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 cambia: el scraper se vigila a sí mismo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Bajadas con código JavaScript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respaldo de "primer párrafo" tomaba &lt;path o código de un carrusel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&lt;p&gt; reales, sin scripts; se descarta texto con forma de 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"&amp;amp;quot;" en el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Sitios que escapan las entidades dos veces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Doble decodificación de entidades HTML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"podrÃ¡" en vez de "podrá"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UTF-8 sin charset leídas como Latin-1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Forzar UTF-8 y reparar los tramos rotos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caído o degradado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vacío o con menos de la mitad de lo habitual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salud y alerta en el tablero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PROCESAMIENTO DE 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nota recibe tema, entidades, tono y cebo</a:t>
            </a:r>
            <a:endParaRPr lang="en-US" sz="3200" dirty="0"/>
          </a:p>
        </p:txBody>
      </p:sp>
      <p:sp>
        <p:nvSpPr>
          <p:cNvPr id="5" name="nlp-0"/>
          <p:cNvSpPr/>
          <p:nvPr/>
        </p:nvSpPr>
        <p:spPr>
          <a:xfrm>
            <a:off x="54864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4290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temas. Reglas sobre título + bajada, y un Naive Bayes que aprende de lo que las reglas ya clasificaron (supervisión débil).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"Otros": 24% → menos del 5%</a:t>
            </a:r>
            <a:endParaRPr lang="en-US" sz="1500" dirty="0"/>
          </a:p>
        </p:txBody>
      </p:sp>
      <p:sp>
        <p:nvSpPr>
          <p:cNvPr id="10" name="nlp-1"/>
          <p:cNvSpPr/>
          <p:nvPr/>
        </p:nvSpPr>
        <p:spPr>
          <a:xfrm>
            <a:off x="429768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860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34290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personas, instituciones y clubes con sus alias y reglas de desambiguación ("Banco Central" no es Rosario Central).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mencionados: Milei, Messi, el papa</a:t>
            </a:r>
            <a:endParaRPr lang="en-US" sz="1500" dirty="0"/>
          </a:p>
        </p:txBody>
      </p:sp>
      <p:sp>
        <p:nvSpPr>
          <p:cNvPr id="15" name="nlp-2"/>
          <p:cNvSpPr/>
          <p:nvPr/>
        </p:nvSpPr>
        <p:spPr>
          <a:xfrm>
            <a:off x="804672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667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8366760" y="34290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hecho es bueno o malo para los involucrados. Palabras + probabilidades de BERT, sobre el título y sobre la bajada.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de acierto con validación cruzada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TONO CON BERT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palabras con BERT sube el acierto de 70% a 77%</a:t>
            </a:r>
            <a:endParaRPr lang="en-US" sz="3200" dirty="0"/>
          </a:p>
        </p:txBody>
      </p:sp>
      <p:graphicFrame>
        <p:nvGraphicFramePr>
          <p:cNvPr id="5" name="grafico" descr=""/>
          <p:cNvGraphicFramePr/>
          <p:nvPr/>
        </p:nvGraphicFramePr>
        <p:xfrm>
          <a:off x="457200" y="187452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863840" y="2103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3063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acierto (antes 70%), medido con notas que el modelo no vio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023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60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4983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notas negativas detectadas (antes 65%)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CÓMO TITULA CADA MEDIO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indicadores para medir el estilo, no solo el contenido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Exageración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560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es negativo y la bajada del propio medio no lo es.</a:t>
            </a:r>
            <a:endParaRPr lang="en-US" sz="1400" dirty="0"/>
          </a:p>
        </p:txBody>
      </p:sp>
      <p:sp>
        <p:nvSpPr>
          <p:cNvPr id="8" name="ejemplo-0"/>
          <p:cNvSpPr/>
          <p:nvPr/>
        </p:nvSpPr>
        <p:spPr>
          <a:xfrm>
            <a:off x="4937760" y="2011680"/>
            <a:ext cx="6702552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12080" y="2148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dramático relato…" → bajada: datos del vuelo y los pasajeros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832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Cebo (clickbait)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exclamaciones, adjetivos exagerados, intriga, segunda persona, listas.</a:t>
            </a:r>
            <a:endParaRPr lang="en-US" sz="1400" dirty="0"/>
          </a:p>
        </p:txBody>
      </p:sp>
      <p:sp>
        <p:nvSpPr>
          <p:cNvPr id="13" name="ejemplo-1"/>
          <p:cNvSpPr/>
          <p:nvPr/>
        </p:nvSpPr>
        <p:spPr>
          <a:xfrm>
            <a:off x="4937760" y="3383280"/>
            <a:ext cx="6702552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35204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"¡Escándalo! Aseguran que…" · "El truco viral para…"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5303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firmadas por un periodista, según los datos estructurados de la nota.</a:t>
            </a:r>
            <a:endParaRPr lang="en-US" sz="1400" dirty="0"/>
          </a:p>
        </p:txBody>
      </p:sp>
      <p:sp>
        <p:nvSpPr>
          <p:cNvPr id="18" name="ejemplo-2"/>
          <p:cNvSpPr/>
          <p:nvPr/>
        </p:nvSpPr>
        <p:spPr>
          <a:xfrm>
            <a:off x="4937760" y="4754880"/>
            <a:ext cx="6702552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8920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"Redacción" o el nombre del medio no cuentan como firma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A24 y El Trece usan recursos de cebo en 1 de cada 5 títulos</a:t>
            </a:r>
            <a:endParaRPr lang="en-US" sz="3200" dirty="0"/>
          </a:p>
        </p:txBody>
      </p:sp>
      <p:graphicFrame>
        <p:nvGraphicFramePr>
          <p:cNvPr id="5" name="grafico" descr=""/>
          <p:cNvGraphicFramePr/>
          <p:nvPr/>
        </p:nvGraphicFramePr>
        <p:xfrm>
          <a:off x="457200" y="1874520"/>
          <a:ext cx="71323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extremo"/>
          <p:cNvSpPr/>
          <p:nvPr/>
        </p:nvSpPr>
        <p:spPr>
          <a:xfrm>
            <a:off x="8046720" y="2011680"/>
            <a:ext cx="3593592" cy="3931920"/>
          </a:xfrm>
          <a:prstGeom prst="roundRect">
            <a:avLst>
              <a:gd name="adj" fmla="val 2036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32104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otro extremo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788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Capital: 1%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1,7%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Chubut: 1,9%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 Nuestro: 2,4%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títulos con al menos un recurso de cebo; medios con 40 notas o más.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SENSACIONALISMO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mapa: quién exagera y quién busca el clic</a:t>
            </a:r>
            <a:endParaRPr lang="en-US" sz="3200" dirty="0"/>
          </a:p>
        </p:txBody>
      </p:sp>
      <p:pic>
        <p:nvPicPr>
          <p:cNvPr id="5" name="mapa" descr="C:\Users\SBI\Documents\Martin Ceriotti Personales\Master Data Science\webmining\Web-Mining\docs\_fuentes\img\mapa-sensacionalis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8229600" cy="3684181"/>
          </a:xfrm>
          <a:prstGeom prst="rect">
            <a:avLst/>
          </a:prstGeom>
        </p:spPr>
      </p:pic>
      <p:sp>
        <p:nvSpPr>
          <p:cNvPr id="6" name="lectura"/>
          <p:cNvSpPr/>
          <p:nvPr/>
        </p:nvSpPr>
        <p:spPr>
          <a:xfrm>
            <a:off x="9052560" y="1920240"/>
            <a:ext cx="2587752" cy="3657600"/>
          </a:xfrm>
          <a:prstGeom prst="roundRect">
            <a:avLst>
              <a:gd name="adj" fmla="val 2827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28116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9281160" y="2651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a la derecha: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con cebo que además exageran.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 a la izquierda: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sobrios y fieles a su bajada.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TONO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Diario Chaco, 1 de cada 2 notas es negativa; en El Chubut, 1 de cada 5</a:t>
            </a:r>
            <a:endParaRPr lang="en-US" sz="3200" dirty="0"/>
          </a:p>
        </p:txBody>
      </p:sp>
      <p:graphicFrame>
        <p:nvGraphicFramePr>
          <p:cNvPr id="5" name="grafico" descr=""/>
          <p:cNvGraphicFramePr/>
          <p:nvPr/>
        </p:nvGraphicFramePr>
        <p:xfrm>
          <a:off x="457200" y="187452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ono-total"/>
          <p:cNvSpPr/>
          <p:nvPr/>
        </p:nvSpPr>
        <p:spPr>
          <a:xfrm>
            <a:off x="8229600" y="2011680"/>
            <a:ext cx="3410712" cy="3931920"/>
          </a:xfrm>
          <a:prstGeom prst="roundRect">
            <a:avLst>
              <a:gd name="adj" fmla="val 2145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5039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 la base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2788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10012680" y="2971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001268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4709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D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0012680" y="4892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TRANSPARENCIA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firma el 91% de sus notas; Radio Mitre y Rosario3, ninguna</a:t>
            </a:r>
            <a:endParaRPr lang="en-US" sz="3200" dirty="0"/>
          </a:p>
        </p:txBody>
      </p:sp>
      <p:graphicFrame>
        <p:nvGraphicFramePr>
          <p:cNvPr id="5" name="grafico" descr=""/>
          <p:cNvGraphicFramePr/>
          <p:nvPr/>
        </p:nvGraphicFramePr>
        <p:xfrm>
          <a:off x="457200" y="1874520"/>
          <a:ext cx="71323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in-firma"/>
          <p:cNvSpPr/>
          <p:nvPr/>
        </p:nvSpPr>
        <p:spPr>
          <a:xfrm>
            <a:off x="8046720" y="2011680"/>
            <a:ext cx="3593592" cy="3931920"/>
          </a:xfrm>
          <a:prstGeom prst="roundRect">
            <a:avLst>
              <a:gd name="adj" fmla="val 2036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32104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ninguna nota firmada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788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Capital (Mar del Plata)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Continental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Mitre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 Nuestro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TABLERO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esto, en un tablero público que se actualiza solo</a:t>
            </a:r>
            <a:endParaRPr lang="en-US" sz="3200" dirty="0"/>
          </a:p>
        </p:txBody>
      </p:sp>
      <p:pic>
        <p:nvPicPr>
          <p:cNvPr id="5" name="captura" descr="C:\Users\SBI\Documents\Martin Ceriotti Personales\Master Data Science\webmining\Web-Mining\docs\_fuentes\img\tablero-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583680" cy="4114800"/>
          </a:xfrm>
          <a:prstGeom prst="rect">
            <a:avLst/>
          </a:prstGeom>
        </p:spPr>
      </p:pic>
      <p:sp>
        <p:nvSpPr>
          <p:cNvPr id="6" name="marco"/>
          <p:cNvSpPr/>
          <p:nvPr/>
        </p:nvSpPr>
        <p:spPr>
          <a:xfrm>
            <a:off x="548640" y="1874520"/>
            <a:ext cx="6583680" cy="4114800"/>
          </a:xfrm>
          <a:prstGeom prst="rect">
            <a:avLst/>
          </a:prstGeom>
          <a:ln w="12700">
            <a:solidFill>
              <a:srgbClr val="D9D9D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9808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temas, entidades y noticias compartidas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49808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y filtros por medio y tema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una persona o marca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titulan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rankings y ejemplos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4663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notas por hora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5349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de datos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scraping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 EN VIVO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se consulta con SQL desde el navegador</a:t>
            </a:r>
            <a:endParaRPr lang="en-US" sz="3200" dirty="0"/>
          </a:p>
        </p:txBody>
      </p:sp>
      <p:sp>
        <p:nvSpPr>
          <p:cNvPr id="5" name="sql"/>
          <p:cNvSpPr/>
          <p:nvPr/>
        </p:nvSpPr>
        <p:spPr>
          <a:xfrm>
            <a:off x="548640" y="201168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33172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medio,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ROUND(100*AVG(cebo&gt;=1), 1) AS cebo,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ROUND(100*AVG(tono_auto='n'), 1) AS neg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medio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&gt;= 50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cebo DESC;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tablero (QR al final)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971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"Explorar la base (SQL)"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886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tabla items o escribir una consulta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4800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937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la base o el CSV si se quiere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HERRAMIENTAS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stack simple, gratuito y reproducible</a:t>
            </a:r>
            <a:endParaRPr lang="en-US" sz="3200" dirty="0"/>
          </a:p>
        </p:txBody>
      </p:sp>
      <p:sp>
        <p:nvSpPr>
          <p:cNvPr id="5" name="stack-0"/>
          <p:cNvSpPr/>
          <p:nvPr/>
        </p:nvSpPr>
        <p:spPr>
          <a:xfrm>
            <a:off x="548640" y="2011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420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feedparser · googlenewsdecoder · urllib.robotparser</a:t>
            </a:r>
            <a:endParaRPr lang="en-US" sz="1500" dirty="0"/>
          </a:p>
        </p:txBody>
      </p:sp>
      <p:sp>
        <p:nvSpPr>
          <p:cNvPr id="8" name="stack-1"/>
          <p:cNvSpPr/>
          <p:nvPr/>
        </p:nvSpPr>
        <p:spPr>
          <a:xfrm>
            <a:off x="6217920" y="2011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5420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regulares · JSON-LD (schema.org) · HTML</a:t>
            </a:r>
            <a:endParaRPr lang="en-US" sz="1500" dirty="0"/>
          </a:p>
        </p:txBody>
      </p:sp>
      <p:sp>
        <p:nvSpPr>
          <p:cNvPr id="11" name="stack-2"/>
          <p:cNvSpPr/>
          <p:nvPr/>
        </p:nvSpPr>
        <p:spPr>
          <a:xfrm>
            <a:off x="548640" y="33375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867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de palabras · Naive Bayes · regresión logística · XLM-RoBERTa (PyTorch, transformers)</a:t>
            </a:r>
            <a:endParaRPr lang="en-US" sz="1500" dirty="0"/>
          </a:p>
        </p:txBody>
      </p:sp>
      <p:sp>
        <p:nvSpPr>
          <p:cNvPr id="14" name="stack-3"/>
          <p:cNvSpPr/>
          <p:nvPr/>
        </p:nvSpPr>
        <p:spPr>
          <a:xfrm>
            <a:off x="6217920" y="33375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867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CSV · Datasette Lite</a:t>
            </a:r>
            <a:endParaRPr lang="en-US" sz="1500" dirty="0"/>
          </a:p>
        </p:txBody>
      </p:sp>
      <p:sp>
        <p:nvSpPr>
          <p:cNvPr id="17" name="stack-4"/>
          <p:cNvSpPr/>
          <p:nvPr/>
        </p:nvSpPr>
        <p:spPr>
          <a:xfrm>
            <a:off x="548640" y="46634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1937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(cada hora) · rama de datos</a:t>
            </a:r>
            <a:endParaRPr lang="en-US" sz="1500" dirty="0"/>
          </a:p>
        </p:txBody>
      </p:sp>
      <p:sp>
        <p:nvSpPr>
          <p:cNvPr id="20" name="stack-5"/>
          <p:cNvSpPr/>
          <p:nvPr/>
        </p:nvSpPr>
        <p:spPr>
          <a:xfrm>
            <a:off x="6217920" y="46634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9224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51937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y JavaScript sin frameworks · GitHub Pages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LO QUE SIGUE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honestas y próximos pasos</a:t>
            </a:r>
            <a:endParaRPr lang="en-US" sz="3200" dirty="0"/>
          </a:p>
        </p:txBody>
      </p:sp>
      <p:sp>
        <p:nvSpPr>
          <p:cNvPr id="5" name="cierre-0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9718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del título y la bajada, no de la nota completa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de acierto con 340 etiquetas de un solo criterio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días de histórico: los rankings se estabilizan con semanas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y entidades por diccionario requieren mantenimiento</a:t>
            </a:r>
            <a:endParaRPr lang="en-US" sz="1600" dirty="0"/>
          </a:p>
        </p:txBody>
      </p:sp>
      <p:sp>
        <p:nvSpPr>
          <p:cNvPr id="9" name="cierre-1"/>
          <p:cNvSpPr/>
          <p:nvPr/>
        </p:nvSpPr>
        <p:spPr>
          <a:xfrm>
            <a:off x="6217920" y="20116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860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13232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6537960" y="29718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con spaCy (NER) para descubrir figuras nuevas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agenda y tono por entidad y medio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medios como grafo de historias compartidas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Primicia: quién publica primero cada historia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PROBALO AHORA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Escaneá el código para abrir el tablero y consultar la base con SQL</a:t>
            </a:r>
            <a:endParaRPr lang="en-US" sz="2000" dirty="0"/>
          </a:p>
        </p:txBody>
      </p:sp>
      <p:pic>
        <p:nvPicPr>
          <p:cNvPr id="5" name="qr" descr="C:\Users\SBI\Documents\Martin Ceriotti Personales\Master Data Science\webmining\Web-Mining\docs\_fuentes\img\qr-tabl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6304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miguegarrone-blip.github.io/Web-Mining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github.com/miguegarrone-blip/Web-Mining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rio">
  <a:themeElements>
    <a:clrScheme name="Diario">
      <a:dk1>
        <a:srgbClr val="1A1A1A"/>
      </a:dk1>
      <a:lt1>
        <a:srgbClr val="FFFFFF"/>
      </a:lt1>
      <a:dk2>
        <a:srgbClr val="2B2B2B"/>
      </a:dk2>
      <a:lt2>
        <a:srgbClr val="F2F2F0"/>
      </a:lt2>
      <a:accent1>
        <a:srgbClr val="C8102E"/>
      </a:accent1>
      <a:accent2>
        <a:srgbClr val="1F5F8B"/>
      </a:accent2>
      <a:accent3>
        <a:srgbClr val="6B6B6B"/>
      </a:accent3>
      <a:accent4>
        <a:srgbClr val="3D8A5A"/>
      </a:accent4>
      <a:accent5>
        <a:srgbClr val="B5483A"/>
      </a:accent5>
      <a:accent6>
        <a:srgbClr val="E0A100"/>
      </a:accent6>
      <a:hlink>
        <a:srgbClr val="1F5F8B"/>
      </a:hlink>
      <a:folHlink>
        <a:srgbClr val="6D2E46"/>
      </a:folHlink>
    </a:clrScheme>
    <a:fontScheme name="Diari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 de medios argentinos</dc:title>
  <dc:subject>PptxGenJS Presentation</dc:subject>
  <dc:creator>PptxGenJS</dc:creator>
  <cp:lastModifiedBy>PptxGenJS</cp:lastModifiedBy>
  <cp:revision>1</cp:revision>
  <dcterms:created xsi:type="dcterms:W3CDTF">2026-10-24T15:41:24Z</dcterms:created>
  <dcterms:modified xsi:type="dcterms:W3CDTF">2026-10-24T15:41:24Z</dcterms:modified>
</cp:coreProperties>
</file>